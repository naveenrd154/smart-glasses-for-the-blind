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 name="Google Shape;79;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3" name="Google Shape;23;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nvSpPr>
        <p:spPr>
          <a:xfrm>
            <a:off x="235400" y="186125"/>
            <a:ext cx="8662800" cy="771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n" sz="1500" u="none" cap="none" strike="noStrike">
                <a:solidFill>
                  <a:schemeClr val="dk1"/>
                </a:solidFill>
                <a:highlight>
                  <a:srgbClr val="FFFFFF"/>
                </a:highlight>
                <a:latin typeface="Times New Roman"/>
                <a:ea typeface="Times New Roman"/>
                <a:cs typeface="Times New Roman"/>
                <a:sym typeface="Times New Roman"/>
              </a:rPr>
              <a:t>Bapuji Educational Association®</a:t>
            </a:r>
            <a:r>
              <a:rPr b="0" i="0" lang="en" sz="1500" u="none" cap="none" strike="noStrike">
                <a:solidFill>
                  <a:schemeClr val="dk1"/>
                </a:solidFill>
                <a:highlight>
                  <a:srgbClr val="FFFFFF"/>
                </a:highlight>
                <a:latin typeface="Times New Roman"/>
                <a:ea typeface="Times New Roman"/>
                <a:cs typeface="Times New Roman"/>
                <a:sym typeface="Times New Roman"/>
              </a:rPr>
              <a:t> </a:t>
            </a:r>
            <a:endParaRPr b="0" i="0" sz="1500" u="none" cap="none" strike="noStrike">
              <a:solidFill>
                <a:schemeClr val="dk1"/>
              </a:solidFill>
              <a:highlight>
                <a:srgbClr val="FFFFFF"/>
              </a:highlight>
              <a:latin typeface="Times New Roman"/>
              <a:ea typeface="Times New Roman"/>
              <a:cs typeface="Times New Roman"/>
              <a:sym typeface="Times New Roman"/>
            </a:endParaRPr>
          </a:p>
          <a:p>
            <a:pPr indent="0" lvl="0" marL="0" marR="0" rtl="0" algn="ctr">
              <a:lnSpc>
                <a:spcPct val="115000"/>
              </a:lnSpc>
              <a:spcBef>
                <a:spcPts val="0"/>
              </a:spcBef>
              <a:spcAft>
                <a:spcPts val="0"/>
              </a:spcAft>
              <a:buClr>
                <a:schemeClr val="dk1"/>
              </a:buClr>
              <a:buSzPts val="1100"/>
              <a:buFont typeface="Arial"/>
              <a:buNone/>
            </a:pPr>
            <a:r>
              <a:rPr b="1" i="0" lang="en" sz="1800" u="none" cap="none" strike="noStrike">
                <a:solidFill>
                  <a:schemeClr val="dk1"/>
                </a:solidFill>
                <a:highlight>
                  <a:srgbClr val="FFFFFF"/>
                </a:highlight>
                <a:latin typeface="Times New Roman"/>
                <a:ea typeface="Times New Roman"/>
                <a:cs typeface="Times New Roman"/>
                <a:sym typeface="Times New Roman"/>
              </a:rPr>
              <a:t>Bapuji Institute of Engineering and Technology</a:t>
            </a:r>
            <a:r>
              <a:rPr b="0" i="0" lang="en" sz="1800" u="none" cap="none" strike="noStrike">
                <a:solidFill>
                  <a:schemeClr val="dk1"/>
                </a:solidFill>
                <a:highlight>
                  <a:srgbClr val="FFFFFF"/>
                </a:highlight>
                <a:latin typeface="Times New Roman"/>
                <a:ea typeface="Times New Roman"/>
                <a:cs typeface="Times New Roman"/>
                <a:sym typeface="Times New Roman"/>
              </a:rPr>
              <a:t> </a:t>
            </a:r>
            <a:endParaRPr b="0" i="0" sz="1800" u="none" cap="none" strike="noStrike">
              <a:solidFill>
                <a:schemeClr val="dk1"/>
              </a:solidFill>
              <a:highlight>
                <a:srgbClr val="FFFFFF"/>
              </a:highlight>
              <a:latin typeface="Times New Roman"/>
              <a:ea typeface="Times New Roman"/>
              <a:cs typeface="Times New Roman"/>
              <a:sym typeface="Times New Roman"/>
            </a:endParaRPr>
          </a:p>
          <a:p>
            <a:pPr indent="0" lvl="0" marL="0" marR="0" rtl="0" algn="ctr">
              <a:lnSpc>
                <a:spcPct val="115000"/>
              </a:lnSpc>
              <a:spcBef>
                <a:spcPts val="0"/>
              </a:spcBef>
              <a:spcAft>
                <a:spcPts val="0"/>
              </a:spcAft>
              <a:buClr>
                <a:schemeClr val="dk1"/>
              </a:buClr>
              <a:buSzPts val="1100"/>
              <a:buFont typeface="Arial"/>
              <a:buNone/>
            </a:pPr>
            <a:r>
              <a:rPr b="1" i="0" lang="en" sz="1700" u="none" cap="none" strike="noStrike">
                <a:solidFill>
                  <a:schemeClr val="dk1"/>
                </a:solidFill>
                <a:highlight>
                  <a:srgbClr val="FFFFFF"/>
                </a:highlight>
                <a:latin typeface="Times New Roman"/>
                <a:ea typeface="Times New Roman"/>
                <a:cs typeface="Times New Roman"/>
                <a:sym typeface="Times New Roman"/>
              </a:rPr>
              <a:t>Davangere-577 004</a:t>
            </a:r>
            <a:r>
              <a:rPr b="0" i="0" lang="en" sz="1700" u="none" cap="none" strike="noStrike">
                <a:solidFill>
                  <a:schemeClr val="dk1"/>
                </a:solidFill>
                <a:highlight>
                  <a:srgbClr val="FFFFFF"/>
                </a:highlight>
                <a:latin typeface="Times New Roman"/>
                <a:ea typeface="Times New Roman"/>
                <a:cs typeface="Times New Roman"/>
                <a:sym typeface="Times New Roman"/>
              </a:rPr>
              <a:t> </a:t>
            </a:r>
            <a:endParaRPr b="0" i="0" sz="1700" u="none" cap="none" strike="noStrike">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2"/>
              </a:solidFill>
              <a:latin typeface="Arial"/>
              <a:ea typeface="Arial"/>
              <a:cs typeface="Arial"/>
              <a:sym typeface="Arial"/>
            </a:endParaRPr>
          </a:p>
        </p:txBody>
      </p:sp>
      <p:sp>
        <p:nvSpPr>
          <p:cNvPr id="58" name="Google Shape;58;p13"/>
          <p:cNvSpPr txBox="1"/>
          <p:nvPr/>
        </p:nvSpPr>
        <p:spPr>
          <a:xfrm>
            <a:off x="703425" y="1171475"/>
            <a:ext cx="7653000" cy="68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n" sz="1700" u="none" cap="none" strike="noStrike">
                <a:solidFill>
                  <a:srgbClr val="1155CC"/>
                </a:solidFill>
                <a:highlight>
                  <a:srgbClr val="FFFFFF"/>
                </a:highlight>
                <a:latin typeface="Times New Roman"/>
                <a:ea typeface="Times New Roman"/>
                <a:cs typeface="Times New Roman"/>
                <a:sym typeface="Times New Roman"/>
              </a:rPr>
              <a:t>Department of Electronics &amp; Communication Engineering</a:t>
            </a:r>
            <a:r>
              <a:rPr b="0" i="0" lang="en" sz="1700" u="none" cap="none" strike="noStrike">
                <a:solidFill>
                  <a:srgbClr val="1155CC"/>
                </a:solidFill>
                <a:highlight>
                  <a:srgbClr val="FFFFFF"/>
                </a:highlight>
                <a:latin typeface="Times New Roman"/>
                <a:ea typeface="Times New Roman"/>
                <a:cs typeface="Times New Roman"/>
                <a:sym typeface="Times New Roman"/>
              </a:rPr>
              <a:t> </a:t>
            </a:r>
            <a:endParaRPr b="0" i="0" sz="1700" u="none" cap="none" strike="noStrike">
              <a:solidFill>
                <a:srgbClr val="1155CC"/>
              </a:solidFill>
              <a:highlight>
                <a:srgbClr val="FFFFFF"/>
              </a:highlight>
              <a:latin typeface="Times New Roman"/>
              <a:ea typeface="Times New Roman"/>
              <a:cs typeface="Times New Roman"/>
              <a:sym typeface="Times New Roman"/>
            </a:endParaRPr>
          </a:p>
          <a:p>
            <a:pPr indent="0" lvl="0" marL="0" marR="0" rtl="0" algn="ctr">
              <a:lnSpc>
                <a:spcPct val="115000"/>
              </a:lnSpc>
              <a:spcBef>
                <a:spcPts val="0"/>
              </a:spcBef>
              <a:spcAft>
                <a:spcPts val="0"/>
              </a:spcAft>
              <a:buClr>
                <a:schemeClr val="dk1"/>
              </a:buClr>
              <a:buSzPts val="1100"/>
              <a:buFont typeface="Arial"/>
              <a:buNone/>
            </a:pPr>
            <a:r>
              <a:rPr b="1" i="0" lang="en" sz="1500" u="none" cap="none" strike="noStrike">
                <a:solidFill>
                  <a:srgbClr val="1155CC"/>
                </a:solidFill>
                <a:highlight>
                  <a:srgbClr val="FFFFFF"/>
                </a:highlight>
                <a:latin typeface="Times New Roman"/>
                <a:ea typeface="Times New Roman"/>
                <a:cs typeface="Times New Roman"/>
                <a:sym typeface="Times New Roman"/>
              </a:rPr>
              <a:t>2023-24</a:t>
            </a:r>
            <a:r>
              <a:rPr b="0" i="0" lang="en" sz="1500" u="none" cap="none" strike="noStrike">
                <a:solidFill>
                  <a:srgbClr val="1155CC"/>
                </a:solidFill>
                <a:highlight>
                  <a:srgbClr val="FFFFFF"/>
                </a:highlight>
                <a:latin typeface="Times New Roman"/>
                <a:ea typeface="Times New Roman"/>
                <a:cs typeface="Times New Roman"/>
                <a:sym typeface="Times New Roman"/>
              </a:rPr>
              <a:t> </a:t>
            </a:r>
            <a:endParaRPr b="0" i="0" sz="1500" u="none" cap="none" strike="noStrike">
              <a:solidFill>
                <a:srgbClr val="1155CC"/>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2"/>
              </a:solidFill>
              <a:latin typeface="Arial"/>
              <a:ea typeface="Arial"/>
              <a:cs typeface="Arial"/>
              <a:sym typeface="Arial"/>
            </a:endParaRPr>
          </a:p>
        </p:txBody>
      </p:sp>
      <p:pic>
        <p:nvPicPr>
          <p:cNvPr id="59" name="Google Shape;59;p13"/>
          <p:cNvPicPr preferRelativeResize="0"/>
          <p:nvPr/>
        </p:nvPicPr>
        <p:blipFill rotWithShape="1">
          <a:blip r:embed="rId3">
            <a:alphaModFix/>
          </a:blip>
          <a:srcRect b="0" l="0" r="0" t="0"/>
          <a:stretch/>
        </p:blipFill>
        <p:spPr>
          <a:xfrm>
            <a:off x="628650" y="264675"/>
            <a:ext cx="1028700" cy="847725"/>
          </a:xfrm>
          <a:prstGeom prst="rect">
            <a:avLst/>
          </a:prstGeom>
          <a:noFill/>
          <a:ln>
            <a:noFill/>
          </a:ln>
        </p:spPr>
      </p:pic>
      <p:pic>
        <p:nvPicPr>
          <p:cNvPr descr="VTU Logo" id="60" name="Google Shape;60;p13"/>
          <p:cNvPicPr preferRelativeResize="0"/>
          <p:nvPr/>
        </p:nvPicPr>
        <p:blipFill rotWithShape="1">
          <a:blip r:embed="rId4">
            <a:alphaModFix/>
          </a:blip>
          <a:srcRect b="0" l="0" r="0" t="0"/>
          <a:stretch/>
        </p:blipFill>
        <p:spPr>
          <a:xfrm>
            <a:off x="7485000" y="221813"/>
            <a:ext cx="933450" cy="933450"/>
          </a:xfrm>
          <a:prstGeom prst="rect">
            <a:avLst/>
          </a:prstGeom>
          <a:noFill/>
          <a:ln>
            <a:noFill/>
          </a:ln>
        </p:spPr>
      </p:pic>
      <p:sp>
        <p:nvSpPr>
          <p:cNvPr id="61" name="Google Shape;61;p13"/>
          <p:cNvSpPr txBox="1"/>
          <p:nvPr/>
        </p:nvSpPr>
        <p:spPr>
          <a:xfrm>
            <a:off x="1143000" y="1981593"/>
            <a:ext cx="7727700" cy="9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1" lang="en" sz="1400" u="none" cap="none" strike="noStrike">
                <a:solidFill>
                  <a:schemeClr val="dk1"/>
                </a:solidFill>
                <a:latin typeface="Arial"/>
                <a:ea typeface="Arial"/>
                <a:cs typeface="Arial"/>
                <a:sym typeface="Arial"/>
              </a:rPr>
              <a:t>         </a:t>
            </a:r>
            <a:endParaRPr b="1" i="1"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400" u="none" cap="none" strike="noStrike">
                <a:solidFill>
                  <a:schemeClr val="dk1"/>
                </a:solidFill>
                <a:latin typeface="Arial"/>
                <a:ea typeface="Arial"/>
                <a:cs typeface="Arial"/>
                <a:sym typeface="Arial"/>
              </a:rPr>
              <a:t>               </a:t>
            </a:r>
            <a:r>
              <a:rPr b="1" i="0" lang="en" sz="1400" u="none" cap="none" strike="noStrike">
                <a:solidFill>
                  <a:srgbClr val="20124D"/>
                </a:solidFill>
                <a:latin typeface="Arial"/>
                <a:ea typeface="Arial"/>
                <a:cs typeface="Arial"/>
                <a:sym typeface="Arial"/>
              </a:rPr>
              <a:t>   </a:t>
            </a:r>
            <a:r>
              <a:rPr b="1" i="0" lang="en" sz="2100" u="none" cap="none" strike="noStrike">
                <a:solidFill>
                  <a:srgbClr val="674EA7"/>
                </a:solidFill>
                <a:latin typeface="Arial"/>
                <a:ea typeface="Arial"/>
                <a:cs typeface="Arial"/>
                <a:sym typeface="Arial"/>
              </a:rPr>
              <a:t>SMART GLASSES FOR THE BLIND </a:t>
            </a:r>
            <a:endParaRPr b="1" i="1" sz="2100" u="none" cap="none" strike="noStrike">
              <a:solidFill>
                <a:srgbClr val="674EA7"/>
              </a:solidFill>
              <a:latin typeface="Arial"/>
              <a:ea typeface="Arial"/>
              <a:cs typeface="Arial"/>
              <a:sym typeface="Arial"/>
            </a:endParaRPr>
          </a:p>
        </p:txBody>
      </p:sp>
      <p:sp>
        <p:nvSpPr>
          <p:cNvPr id="62" name="Google Shape;62;p13"/>
          <p:cNvSpPr txBox="1"/>
          <p:nvPr/>
        </p:nvSpPr>
        <p:spPr>
          <a:xfrm>
            <a:off x="2612100" y="2840480"/>
            <a:ext cx="4789500" cy="19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chemeClr val="dk2"/>
                </a:solidFill>
                <a:latin typeface="Arial"/>
                <a:ea typeface="Arial"/>
                <a:cs typeface="Arial"/>
                <a:sym typeface="Arial"/>
              </a:rPr>
              <a:t>                      </a:t>
            </a:r>
            <a:r>
              <a:rPr b="1" i="1" lang="en" sz="1500" u="none" cap="none" strike="noStrike">
                <a:solidFill>
                  <a:schemeClr val="dk1"/>
                </a:solidFill>
                <a:latin typeface="Times New Roman"/>
                <a:ea typeface="Times New Roman"/>
                <a:cs typeface="Times New Roman"/>
                <a:sym typeface="Times New Roman"/>
              </a:rPr>
              <a:t>Project Associates,</a:t>
            </a:r>
            <a:endParaRPr b="1" i="1" sz="15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1" sz="15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rPr b="1" i="0" lang="en" sz="1600" u="none" cap="none" strike="noStrike">
                <a:solidFill>
                  <a:schemeClr val="dk1"/>
                </a:solidFill>
                <a:latin typeface="Times New Roman"/>
                <a:ea typeface="Times New Roman"/>
                <a:cs typeface="Times New Roman"/>
                <a:sym typeface="Times New Roman"/>
              </a:rPr>
              <a:t> </a:t>
            </a:r>
            <a:r>
              <a:rPr b="1" i="0" lang="en" sz="1500" u="none" cap="none" strike="noStrike">
                <a:solidFill>
                  <a:srgbClr val="000000"/>
                </a:solidFill>
                <a:latin typeface="Times New Roman"/>
                <a:ea typeface="Times New Roman"/>
                <a:cs typeface="Times New Roman"/>
                <a:sym typeface="Times New Roman"/>
              </a:rPr>
              <a:t>NANDEESH G U.</a:t>
            </a:r>
            <a:r>
              <a:rPr b="1" i="0" lang="en" sz="1400" u="none" cap="none" strike="noStrike">
                <a:solidFill>
                  <a:srgbClr val="000000"/>
                </a:solidFill>
                <a:latin typeface="Times New Roman"/>
                <a:ea typeface="Times New Roman"/>
                <a:cs typeface="Times New Roman"/>
                <a:sym typeface="Times New Roman"/>
              </a:rPr>
              <a:t>          4BD21EC053</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1" i="0" lang="en" sz="1400" u="none" cap="none" strike="noStrike">
                <a:solidFill>
                  <a:srgbClr val="000000"/>
                </a:solidFill>
                <a:latin typeface="Times New Roman"/>
                <a:ea typeface="Times New Roman"/>
                <a:cs typeface="Times New Roman"/>
                <a:sym typeface="Times New Roman"/>
              </a:rPr>
              <a:t> </a:t>
            </a:r>
            <a:r>
              <a:rPr b="1" i="0" lang="en" sz="1500" u="none" cap="none" strike="noStrike">
                <a:solidFill>
                  <a:srgbClr val="000000"/>
                </a:solidFill>
                <a:latin typeface="Times New Roman"/>
                <a:ea typeface="Times New Roman"/>
                <a:cs typeface="Times New Roman"/>
                <a:sym typeface="Times New Roman"/>
              </a:rPr>
              <a:t>NAVEEN R D.                </a:t>
            </a:r>
            <a:r>
              <a:rPr b="1" i="0" lang="en" sz="1400" u="none" cap="none" strike="noStrike">
                <a:solidFill>
                  <a:srgbClr val="000000"/>
                </a:solidFill>
                <a:latin typeface="Times New Roman"/>
                <a:ea typeface="Times New Roman"/>
                <a:cs typeface="Times New Roman"/>
                <a:sym typeface="Times New Roman"/>
              </a:rPr>
              <a:t>4BD21EC055</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 sz="1500" u="none" cap="none" strike="noStrike">
                <a:solidFill>
                  <a:srgbClr val="000000"/>
                </a:solidFill>
                <a:latin typeface="Times New Roman"/>
                <a:ea typeface="Times New Roman"/>
                <a:cs typeface="Times New Roman"/>
                <a:sym typeface="Times New Roman"/>
              </a:rPr>
              <a:t> NIKHIL K H.                 </a:t>
            </a:r>
            <a:r>
              <a:rPr b="1" i="0" lang="en" sz="1400" u="none" cap="none" strike="noStrike">
                <a:solidFill>
                  <a:srgbClr val="000000"/>
                </a:solidFill>
                <a:latin typeface="Times New Roman"/>
                <a:ea typeface="Times New Roman"/>
                <a:cs typeface="Times New Roman"/>
                <a:sym typeface="Times New Roman"/>
              </a:rPr>
              <a:t>4BD21EC057 </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 sz="1500" u="none" cap="none" strike="noStrike">
                <a:solidFill>
                  <a:srgbClr val="000000"/>
                </a:solidFill>
                <a:latin typeface="Times New Roman"/>
                <a:ea typeface="Times New Roman"/>
                <a:cs typeface="Times New Roman"/>
                <a:sym typeface="Times New Roman"/>
              </a:rPr>
              <a:t> NIKITHA S G.                </a:t>
            </a:r>
            <a:r>
              <a:rPr b="1" i="0" lang="en" sz="1400" u="none" cap="none" strike="noStrike">
                <a:solidFill>
                  <a:srgbClr val="000000"/>
                </a:solidFill>
                <a:latin typeface="Times New Roman"/>
                <a:ea typeface="Times New Roman"/>
                <a:cs typeface="Times New Roman"/>
                <a:sym typeface="Times New Roman"/>
              </a:rPr>
              <a:t>4BD21EC059</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rPr b="1" i="0" lang="en" sz="1600" u="none" cap="none" strike="noStrike">
                <a:solidFill>
                  <a:srgbClr val="000000"/>
                </a:solidFill>
                <a:latin typeface="Times New Roman"/>
                <a:ea typeface="Times New Roman"/>
                <a:cs typeface="Times New Roman"/>
                <a:sym typeface="Times New Roman"/>
              </a:rPr>
              <a:t> </a:t>
            </a:r>
            <a:r>
              <a:rPr b="1" i="0" lang="en" sz="1600" u="none" cap="none" strike="noStrike">
                <a:solidFill>
                  <a:srgbClr val="9900FF"/>
                </a:solidFill>
                <a:latin typeface="Times New Roman"/>
                <a:ea typeface="Times New Roman"/>
                <a:cs typeface="Times New Roman"/>
                <a:sym typeface="Times New Roman"/>
              </a:rPr>
              <a:t>                              </a:t>
            </a:r>
            <a:endParaRPr b="1" i="0" sz="1200" u="none" cap="none" strike="noStrike">
              <a:solidFill>
                <a:srgbClr val="674EA7"/>
              </a:solidFill>
              <a:latin typeface="Times New Roman"/>
              <a:ea typeface="Times New Roman"/>
              <a:cs typeface="Times New Roman"/>
              <a:sym typeface="Times New Roman"/>
            </a:endParaRPr>
          </a:p>
        </p:txBody>
      </p:sp>
      <p:sp>
        <p:nvSpPr>
          <p:cNvPr id="63" name="Google Shape;63;p13"/>
          <p:cNvSpPr txBox="1"/>
          <p:nvPr/>
        </p:nvSpPr>
        <p:spPr>
          <a:xfrm>
            <a:off x="628650" y="4434155"/>
            <a:ext cx="23417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Times New Roman"/>
                <a:ea typeface="Times New Roman"/>
                <a:cs typeface="Times New Roman"/>
                <a:sym typeface="Times New Roman"/>
              </a:rPr>
              <a:t>Dr.NIRMALA S 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Times New Roman"/>
                <a:ea typeface="Times New Roman"/>
                <a:cs typeface="Times New Roman"/>
                <a:sym typeface="Times New Roman"/>
              </a:rPr>
              <a:t>PROJECT GUIDE</a:t>
            </a:r>
            <a:endParaRPr b="1" i="0" sz="1400" u="none" cap="none" strike="noStrike">
              <a:solidFill>
                <a:srgbClr val="000000"/>
              </a:solidFill>
              <a:latin typeface="Times New Roman"/>
              <a:ea typeface="Times New Roman"/>
              <a:cs typeface="Times New Roman"/>
              <a:sym typeface="Times New Roman"/>
            </a:endParaRPr>
          </a:p>
        </p:txBody>
      </p:sp>
      <p:sp>
        <p:nvSpPr>
          <p:cNvPr id="64" name="Google Shape;64;p13"/>
          <p:cNvSpPr txBox="1"/>
          <p:nvPr/>
        </p:nvSpPr>
        <p:spPr>
          <a:xfrm>
            <a:off x="6002351" y="4318039"/>
            <a:ext cx="308424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Times New Roman"/>
                <a:ea typeface="Times New Roman"/>
                <a:cs typeface="Times New Roman"/>
                <a:sym typeface="Times New Roman"/>
              </a:rPr>
              <a:t>Dr. G S SUNITHA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Times New Roman"/>
                <a:ea typeface="Times New Roman"/>
                <a:cs typeface="Times New Roman"/>
                <a:sym typeface="Times New Roman"/>
              </a:rPr>
              <a:t>M.Tech. (DEAC), Ph.D., MISTE, FIETE, FI 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Times New Roman"/>
                <a:ea typeface="Times New Roman"/>
                <a:cs typeface="Times New Roman"/>
                <a:sym typeface="Times New Roman"/>
              </a:rPr>
              <a:t>PROGRAM COORDINATOR</a:t>
            </a:r>
            <a:endParaRPr b="1"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221925"/>
            <a:ext cx="8618100" cy="897000"/>
          </a:xfrm>
          <a:prstGeom prst="rect">
            <a:avLst/>
          </a:prstGeom>
          <a:noFill/>
          <a:ln>
            <a:noFill/>
          </a:ln>
        </p:spPr>
        <p:txBody>
          <a:bodyPr anchorCtr="0" anchor="t" bIns="91425" lIns="91425" spcFirstLastPara="1" rIns="91425" wrap="square" tIns="91425">
            <a:noAutofit/>
          </a:bodyPr>
          <a:lstStyle/>
          <a:p>
            <a:pPr indent="0" lvl="0" marL="850900" marR="596900" rtl="0" algn="ctr">
              <a:lnSpc>
                <a:spcPct val="151000"/>
              </a:lnSpc>
              <a:spcBef>
                <a:spcPts val="800"/>
              </a:spcBef>
              <a:spcAft>
                <a:spcPts val="0"/>
              </a:spcAft>
              <a:buClr>
                <a:schemeClr val="dk1"/>
              </a:buClr>
              <a:buSzPts val="990"/>
              <a:buFont typeface="Arial"/>
              <a:buNone/>
            </a:pPr>
            <a:r>
              <a:rPr b="1" lang="en" sz="1900">
                <a:solidFill>
                  <a:srgbClr val="351C75"/>
                </a:solidFill>
                <a:latin typeface="Times New Roman"/>
                <a:ea typeface="Times New Roman"/>
                <a:cs typeface="Times New Roman"/>
                <a:sym typeface="Times New Roman"/>
              </a:rPr>
              <a:t>BAPUJI INSTITUTE OF ENGINEERING AND TECHNOLOGY, DAVANGERE-577004</a:t>
            </a:r>
            <a:endParaRPr b="1" sz="1900">
              <a:solidFill>
                <a:srgbClr val="351C75"/>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2620"/>
          </a:p>
        </p:txBody>
      </p:sp>
      <p:sp>
        <p:nvSpPr>
          <p:cNvPr id="70" name="Google Shape;70;p14"/>
          <p:cNvSpPr txBox="1"/>
          <p:nvPr>
            <p:ph idx="1" type="body"/>
          </p:nvPr>
        </p:nvSpPr>
        <p:spPr>
          <a:xfrm>
            <a:off x="311700" y="1287500"/>
            <a:ext cx="8520600" cy="32814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just">
              <a:lnSpc>
                <a:spcPct val="115000"/>
              </a:lnSpc>
              <a:spcBef>
                <a:spcPts val="1200"/>
              </a:spcBef>
              <a:spcAft>
                <a:spcPts val="0"/>
              </a:spcAft>
              <a:buSzPct val="75000"/>
              <a:buNone/>
            </a:pPr>
            <a:r>
              <a:rPr b="1" i="1" lang="en" sz="2400">
                <a:solidFill>
                  <a:srgbClr val="FF0000"/>
                </a:solidFill>
                <a:latin typeface="Times New Roman"/>
                <a:ea typeface="Times New Roman"/>
                <a:cs typeface="Times New Roman"/>
                <a:sym typeface="Times New Roman"/>
              </a:rPr>
              <a:t>Vision</a:t>
            </a:r>
            <a:endParaRPr b="1" i="1" sz="2400">
              <a:solidFill>
                <a:srgbClr val="FF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SzPct val="92306"/>
              <a:buNone/>
            </a:pPr>
            <a:r>
              <a:rPr b="1" lang="en" sz="1950">
                <a:solidFill>
                  <a:schemeClr val="dk1"/>
                </a:solidFill>
                <a:highlight>
                  <a:srgbClr val="FFFFFF"/>
                </a:highlight>
                <a:latin typeface="Times New Roman"/>
                <a:ea typeface="Times New Roman"/>
                <a:cs typeface="Times New Roman"/>
                <a:sym typeface="Times New Roman"/>
              </a:rPr>
              <a:t>To be a centre of excellence recognized nationally and internationally, in distinctive areas of engineering education and research, based on a culture of innovation and invention.</a:t>
            </a:r>
            <a:endParaRPr b="1" sz="195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200"/>
              </a:spcBef>
              <a:spcAft>
                <a:spcPts val="0"/>
              </a:spcAft>
              <a:buSzPct val="75000"/>
              <a:buNone/>
            </a:pPr>
            <a:r>
              <a:rPr b="1" i="1" lang="en" sz="2400">
                <a:solidFill>
                  <a:srgbClr val="FF0000"/>
                </a:solidFill>
                <a:latin typeface="Times New Roman"/>
                <a:ea typeface="Times New Roman"/>
                <a:cs typeface="Times New Roman"/>
                <a:sym typeface="Times New Roman"/>
              </a:rPr>
              <a:t>Mission</a:t>
            </a:r>
            <a:endParaRPr b="1" i="1" sz="2400">
              <a:solidFill>
                <a:srgbClr val="FF0000"/>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SzPct val="91925"/>
              <a:buNone/>
            </a:pPr>
            <a:r>
              <a:rPr b="1" lang="en" sz="1958">
                <a:solidFill>
                  <a:schemeClr val="dk1"/>
                </a:solidFill>
                <a:highlight>
                  <a:srgbClr val="FFFFFF"/>
                </a:highlight>
                <a:latin typeface="Times New Roman"/>
                <a:ea typeface="Times New Roman"/>
                <a:cs typeface="Times New Roman"/>
                <a:sym typeface="Times New Roman"/>
              </a:rPr>
              <a:t>BIET contributes to the growth and development of its students by imparting a broad based engineering education and empowering them to be successful in their chosen field by inculcating in them positive approach, leadership qualities and ethical values</a:t>
            </a:r>
            <a:r>
              <a:rPr b="1" lang="en" sz="2208">
                <a:solidFill>
                  <a:schemeClr val="dk1"/>
                </a:solidFill>
                <a:latin typeface="Times New Roman"/>
                <a:ea typeface="Times New Roman"/>
                <a:cs typeface="Times New Roman"/>
                <a:sym typeface="Times New Roman"/>
              </a:rPr>
              <a:t>. </a:t>
            </a:r>
            <a:r>
              <a:rPr b="1" lang="en" sz="2100">
                <a:solidFill>
                  <a:schemeClr val="dk1"/>
                </a:solidFill>
                <a:latin typeface="Times New Roman"/>
                <a:ea typeface="Times New Roman"/>
                <a:cs typeface="Times New Roman"/>
                <a:sym typeface="Times New Roman"/>
              </a:rPr>
              <a:t>      </a:t>
            </a:r>
            <a:r>
              <a:rPr b="1" lang="en" sz="1400">
                <a:solidFill>
                  <a:schemeClr val="dk1"/>
                </a:solidFill>
                <a:latin typeface="Times New Roman"/>
                <a:ea typeface="Times New Roman"/>
                <a:cs typeface="Times New Roman"/>
                <a:sym typeface="Times New Roman"/>
              </a:rPr>
              <a:t>      </a:t>
            </a:r>
            <a:endParaRPr b="1" sz="19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idx="4294967295" type="title"/>
          </p:nvPr>
        </p:nvSpPr>
        <p:spPr>
          <a:xfrm>
            <a:off x="264725" y="92750"/>
            <a:ext cx="8520600" cy="5727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2800"/>
              <a:buNone/>
            </a:pPr>
            <a:r>
              <a:rPr b="1" lang="en" sz="1700">
                <a:latin typeface="Times New Roman"/>
                <a:ea typeface="Times New Roman"/>
                <a:cs typeface="Times New Roman"/>
                <a:sym typeface="Times New Roman"/>
              </a:rPr>
              <a:t>                          </a:t>
            </a:r>
            <a:r>
              <a:rPr b="1" lang="en" sz="1900">
                <a:solidFill>
                  <a:srgbClr val="351C75"/>
                </a:solidFill>
                <a:latin typeface="Times New Roman"/>
                <a:ea typeface="Times New Roman"/>
                <a:cs typeface="Times New Roman"/>
                <a:sym typeface="Times New Roman"/>
              </a:rPr>
              <a:t>Department of Electronics and Communication Engineering</a:t>
            </a:r>
            <a:endParaRPr b="1" sz="3600">
              <a:solidFill>
                <a:srgbClr val="351C75"/>
              </a:solidFill>
              <a:latin typeface="Times New Roman"/>
              <a:ea typeface="Times New Roman"/>
              <a:cs typeface="Times New Roman"/>
              <a:sym typeface="Times New Roman"/>
            </a:endParaRPr>
          </a:p>
        </p:txBody>
      </p:sp>
      <p:sp>
        <p:nvSpPr>
          <p:cNvPr id="76" name="Google Shape;76;p15"/>
          <p:cNvSpPr txBox="1"/>
          <p:nvPr>
            <p:ph idx="4294967295" type="body"/>
          </p:nvPr>
        </p:nvSpPr>
        <p:spPr>
          <a:xfrm>
            <a:off x="358675" y="530100"/>
            <a:ext cx="8705100" cy="38757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i="1" lang="en" sz="2420">
                <a:solidFill>
                  <a:srgbClr val="FF0000"/>
                </a:solidFill>
                <a:latin typeface="Times New Roman"/>
                <a:ea typeface="Times New Roman"/>
                <a:cs typeface="Times New Roman"/>
                <a:sym typeface="Times New Roman"/>
              </a:rPr>
              <a:t>Vision</a:t>
            </a:r>
            <a:endParaRPr b="1" i="1" sz="2420">
              <a:solidFill>
                <a:srgbClr val="FF0000"/>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1800"/>
              <a:buNone/>
            </a:pPr>
            <a:r>
              <a:rPr b="1" lang="en" sz="1801">
                <a:solidFill>
                  <a:schemeClr val="dk1"/>
                </a:solidFill>
                <a:highlight>
                  <a:srgbClr val="FFFFFF"/>
                </a:highlight>
                <a:latin typeface="Times New Roman"/>
                <a:ea typeface="Times New Roman"/>
                <a:cs typeface="Times New Roman"/>
                <a:sym typeface="Times New Roman"/>
              </a:rPr>
              <a:t>To be in the forefront in providing quality technical education and research in Electronics &amp; Communication Engineering to produce skilled professionals to cater to the challenges of the society.</a:t>
            </a:r>
            <a:endParaRPr b="1" sz="1801">
              <a:solidFill>
                <a:schemeClr val="dk1"/>
              </a:solidFill>
              <a:highlight>
                <a:srgbClr val="FFFFFF"/>
              </a:highlight>
              <a:latin typeface="Times New Roman"/>
              <a:ea typeface="Times New Roman"/>
              <a:cs typeface="Times New Roman"/>
              <a:sym typeface="Times New Roman"/>
            </a:endParaRPr>
          </a:p>
          <a:p>
            <a:pPr indent="0" lvl="0" marL="0" rtl="0" algn="just">
              <a:lnSpc>
                <a:spcPct val="90000"/>
              </a:lnSpc>
              <a:spcBef>
                <a:spcPts val="1200"/>
              </a:spcBef>
              <a:spcAft>
                <a:spcPts val="0"/>
              </a:spcAft>
              <a:buSzPts val="1800"/>
              <a:buNone/>
            </a:pPr>
            <a:r>
              <a:rPr b="1" i="1" lang="en" sz="2420">
                <a:solidFill>
                  <a:srgbClr val="FF0000"/>
                </a:solidFill>
                <a:highlight>
                  <a:srgbClr val="FFFFFF"/>
                </a:highlight>
                <a:latin typeface="Times New Roman"/>
                <a:ea typeface="Times New Roman"/>
                <a:cs typeface="Times New Roman"/>
                <a:sym typeface="Times New Roman"/>
              </a:rPr>
              <a:t>Mission</a:t>
            </a:r>
            <a:endParaRPr b="1" i="1" sz="2420">
              <a:solidFill>
                <a:srgbClr val="FF0000"/>
              </a:solidFill>
              <a:highlight>
                <a:srgbClr val="FFFFFF"/>
              </a:highlight>
              <a:latin typeface="Times New Roman"/>
              <a:ea typeface="Times New Roman"/>
              <a:cs typeface="Times New Roman"/>
              <a:sym typeface="Times New Roman"/>
            </a:endParaRPr>
          </a:p>
          <a:p>
            <a:pPr indent="-343773" lvl="0" marL="457200" rtl="0" algn="just">
              <a:lnSpc>
                <a:spcPct val="95000"/>
              </a:lnSpc>
              <a:spcBef>
                <a:spcPts val="1100"/>
              </a:spcBef>
              <a:spcAft>
                <a:spcPts val="0"/>
              </a:spcAft>
              <a:buClr>
                <a:schemeClr val="dk1"/>
              </a:buClr>
              <a:buSzPts val="1813"/>
              <a:buFont typeface="Times New Roman"/>
              <a:buAutoNum type="arabicPeriod"/>
            </a:pPr>
            <a:r>
              <a:rPr b="1" lang="en" sz="1812">
                <a:solidFill>
                  <a:schemeClr val="dk1"/>
                </a:solidFill>
                <a:highlight>
                  <a:srgbClr val="FFFFFF"/>
                </a:highlight>
                <a:latin typeface="Times New Roman"/>
                <a:ea typeface="Times New Roman"/>
                <a:cs typeface="Times New Roman"/>
                <a:sym typeface="Times New Roman"/>
              </a:rPr>
              <a:t>To facilitate the students with profound technical knowledge through effective teaching learning process for a successful career.</a:t>
            </a:r>
            <a:endParaRPr b="1" sz="1812">
              <a:solidFill>
                <a:schemeClr val="dk1"/>
              </a:solidFill>
              <a:highlight>
                <a:srgbClr val="FFFFFF"/>
              </a:highlight>
              <a:latin typeface="Times New Roman"/>
              <a:ea typeface="Times New Roman"/>
              <a:cs typeface="Times New Roman"/>
              <a:sym typeface="Times New Roman"/>
            </a:endParaRPr>
          </a:p>
          <a:p>
            <a:pPr indent="-343773" lvl="0" marL="457200" rtl="0" algn="just">
              <a:lnSpc>
                <a:spcPct val="95000"/>
              </a:lnSpc>
              <a:spcBef>
                <a:spcPts val="0"/>
              </a:spcBef>
              <a:spcAft>
                <a:spcPts val="0"/>
              </a:spcAft>
              <a:buClr>
                <a:schemeClr val="dk1"/>
              </a:buClr>
              <a:buSzPts val="1813"/>
              <a:buFont typeface="Times New Roman"/>
              <a:buAutoNum type="arabicPeriod"/>
            </a:pPr>
            <a:r>
              <a:rPr b="1" lang="en" sz="1812">
                <a:solidFill>
                  <a:schemeClr val="dk1"/>
                </a:solidFill>
                <a:highlight>
                  <a:srgbClr val="FFFFFF"/>
                </a:highlight>
                <a:latin typeface="Times New Roman"/>
                <a:ea typeface="Times New Roman"/>
                <a:cs typeface="Times New Roman"/>
                <a:sym typeface="Times New Roman"/>
              </a:rPr>
              <a:t>To impart quality education to strengthen students to meet the industry standards and face confidently the challenges in the programme.</a:t>
            </a:r>
            <a:endParaRPr b="1" sz="1812">
              <a:solidFill>
                <a:schemeClr val="dk1"/>
              </a:solidFill>
              <a:highlight>
                <a:srgbClr val="FFFFFF"/>
              </a:highlight>
              <a:latin typeface="Times New Roman"/>
              <a:ea typeface="Times New Roman"/>
              <a:cs typeface="Times New Roman"/>
              <a:sym typeface="Times New Roman"/>
            </a:endParaRPr>
          </a:p>
          <a:p>
            <a:pPr indent="-343773" lvl="0" marL="457200" rtl="0" algn="just">
              <a:lnSpc>
                <a:spcPct val="95000"/>
              </a:lnSpc>
              <a:spcBef>
                <a:spcPts val="0"/>
              </a:spcBef>
              <a:spcAft>
                <a:spcPts val="0"/>
              </a:spcAft>
              <a:buClr>
                <a:schemeClr val="dk1"/>
              </a:buClr>
              <a:buSzPts val="1813"/>
              <a:buFont typeface="Times New Roman"/>
              <a:buAutoNum type="arabicPeriod"/>
            </a:pPr>
            <a:r>
              <a:rPr b="1" lang="en" sz="1812">
                <a:solidFill>
                  <a:schemeClr val="dk1"/>
                </a:solidFill>
                <a:highlight>
                  <a:srgbClr val="FFFFFF"/>
                </a:highlight>
                <a:latin typeface="Times New Roman"/>
                <a:ea typeface="Times New Roman"/>
                <a:cs typeface="Times New Roman"/>
                <a:sym typeface="Times New Roman"/>
              </a:rPr>
              <a:t>To develop the essence of innovation and research among students and faculty by providing infrastructure and a conducive environment.</a:t>
            </a:r>
            <a:endParaRPr b="1" sz="1812">
              <a:solidFill>
                <a:schemeClr val="dk1"/>
              </a:solidFill>
              <a:highlight>
                <a:srgbClr val="FFFFFF"/>
              </a:highlight>
              <a:latin typeface="Times New Roman"/>
              <a:ea typeface="Times New Roman"/>
              <a:cs typeface="Times New Roman"/>
              <a:sym typeface="Times New Roman"/>
            </a:endParaRPr>
          </a:p>
          <a:p>
            <a:pPr indent="-343773" lvl="0" marL="457200" rtl="0" algn="just">
              <a:lnSpc>
                <a:spcPct val="95000"/>
              </a:lnSpc>
              <a:spcBef>
                <a:spcPts val="0"/>
              </a:spcBef>
              <a:spcAft>
                <a:spcPts val="0"/>
              </a:spcAft>
              <a:buClr>
                <a:schemeClr val="dk1"/>
              </a:buClr>
              <a:buSzPts val="1813"/>
              <a:buFont typeface="Times New Roman"/>
              <a:buAutoNum type="arabicPeriod"/>
            </a:pPr>
            <a:r>
              <a:rPr b="1" lang="en" sz="1812">
                <a:solidFill>
                  <a:schemeClr val="dk1"/>
                </a:solidFill>
                <a:highlight>
                  <a:srgbClr val="FFFFFF"/>
                </a:highlight>
                <a:latin typeface="Times New Roman"/>
                <a:ea typeface="Times New Roman"/>
                <a:cs typeface="Times New Roman"/>
                <a:sym typeface="Times New Roman"/>
              </a:rPr>
              <a:t>To inculcate the student community with ethical values, communication skills, leadership qualities, entrepreneurial skills and lifelong learning to meet the societal needs.</a:t>
            </a:r>
            <a:endParaRPr b="1" sz="1812">
              <a:solidFill>
                <a:schemeClr val="dk1"/>
              </a:solidFill>
              <a:highlight>
                <a:srgbClr val="FFFFFF"/>
              </a:highlight>
              <a:latin typeface="Times New Roman"/>
              <a:ea typeface="Times New Roman"/>
              <a:cs typeface="Times New Roman"/>
              <a:sym typeface="Times New Roman"/>
            </a:endParaRPr>
          </a:p>
          <a:p>
            <a:pPr indent="0" lvl="0" marL="0" rtl="0" algn="just">
              <a:lnSpc>
                <a:spcPct val="90000"/>
              </a:lnSpc>
              <a:spcBef>
                <a:spcPts val="1200"/>
              </a:spcBef>
              <a:spcAft>
                <a:spcPts val="0"/>
              </a:spcAft>
              <a:buClr>
                <a:schemeClr val="dk1"/>
              </a:buClr>
              <a:buSzPts val="770"/>
              <a:buFont typeface="Arial"/>
              <a:buNone/>
            </a:pPr>
            <a:r>
              <a:t/>
            </a:r>
            <a:endParaRPr b="1" sz="1720">
              <a:solidFill>
                <a:schemeClr val="dk1"/>
              </a:solidFill>
              <a:highlight>
                <a:srgbClr val="FFFFFF"/>
              </a:highlight>
              <a:latin typeface="Times New Roman"/>
              <a:ea typeface="Times New Roman"/>
              <a:cs typeface="Times New Roman"/>
              <a:sym typeface="Times New Roman"/>
            </a:endParaRPr>
          </a:p>
          <a:p>
            <a:pPr indent="0" lvl="0" marL="0" rtl="0" algn="l">
              <a:lnSpc>
                <a:spcPct val="95000"/>
              </a:lnSpc>
              <a:spcBef>
                <a:spcPts val="1100"/>
              </a:spcBef>
              <a:spcAft>
                <a:spcPts val="1200"/>
              </a:spcAft>
              <a:buSzPts val="1800"/>
              <a:buNone/>
            </a:pPr>
            <a:r>
              <a:t/>
            </a:r>
            <a:endParaRPr b="1" sz="1475">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p:nvPr/>
        </p:nvSpPr>
        <p:spPr>
          <a:xfrm>
            <a:off x="709032" y="386436"/>
            <a:ext cx="4929555" cy="415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Times New Roman"/>
                <a:ea typeface="Times New Roman"/>
                <a:cs typeface="Times New Roman"/>
                <a:sym typeface="Times New Roman"/>
              </a:rPr>
              <a:t>Course Learning Objectives(21ECMP67)</a:t>
            </a:r>
            <a:endParaRPr b="0" i="0" sz="2100" u="none" cap="none" strike="noStrike">
              <a:solidFill>
                <a:srgbClr val="000000"/>
              </a:solidFill>
              <a:latin typeface="Arial"/>
              <a:ea typeface="Arial"/>
              <a:cs typeface="Arial"/>
              <a:sym typeface="Arial"/>
            </a:endParaRPr>
          </a:p>
        </p:txBody>
      </p:sp>
      <p:sp>
        <p:nvSpPr>
          <p:cNvPr id="82" name="Google Shape;82;p16"/>
          <p:cNvSpPr/>
          <p:nvPr/>
        </p:nvSpPr>
        <p:spPr>
          <a:xfrm>
            <a:off x="913006" y="1182495"/>
            <a:ext cx="6572250" cy="3139321"/>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 sz="1900" u="none" cap="none" strike="noStrike">
                <a:solidFill>
                  <a:schemeClr val="dk1"/>
                </a:solidFill>
                <a:latin typeface="Times New Roman"/>
                <a:ea typeface="Times New Roman"/>
                <a:cs typeface="Times New Roman"/>
                <a:sym typeface="Times New Roman"/>
              </a:rPr>
              <a:t>This course will enable us to:</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chemeClr val="dk1"/>
                </a:solidFill>
                <a:latin typeface="Times New Roman"/>
                <a:ea typeface="Times New Roman"/>
                <a:cs typeface="Times New Roman"/>
                <a:sym typeface="Times New Roman"/>
              </a:rPr>
              <a:t>1) Understand and analyze an engineering problem.</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chemeClr val="dk1"/>
                </a:solidFill>
                <a:latin typeface="Times New Roman"/>
                <a:ea typeface="Times New Roman"/>
                <a:cs typeface="Times New Roman"/>
                <a:sym typeface="Times New Roman"/>
              </a:rPr>
              <a:t>2) Acquire technical knowledge and collect the information.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chemeClr val="dk1"/>
                </a:solidFill>
                <a:latin typeface="Times New Roman"/>
                <a:ea typeface="Times New Roman"/>
                <a:cs typeface="Times New Roman"/>
                <a:sym typeface="Times New Roman"/>
              </a:rPr>
              <a:t>3) Enhance communication, technical presentation and report preparation</a:t>
            </a:r>
            <a:r>
              <a:rPr lang="en" sz="1500"/>
              <a:t> </a:t>
            </a:r>
            <a:r>
              <a:rPr b="0" i="0" lang="en" sz="1900" u="none" cap="none" strike="noStrike">
                <a:solidFill>
                  <a:schemeClr val="dk1"/>
                </a:solidFill>
                <a:latin typeface="Times New Roman"/>
                <a:ea typeface="Times New Roman"/>
                <a:cs typeface="Times New Roman"/>
                <a:sym typeface="Times New Roman"/>
              </a:rPr>
              <a:t>skills.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chemeClr val="dk1"/>
                </a:solidFill>
                <a:latin typeface="Times New Roman"/>
                <a:ea typeface="Times New Roman"/>
                <a:cs typeface="Times New Roman"/>
                <a:sym typeface="Times New Roman"/>
              </a:rPr>
              <a:t>4) Provide an opportunity to exercise the creative and innovative ideas in</a:t>
            </a:r>
            <a:r>
              <a:rPr lang="en" sz="1500"/>
              <a:t> </a:t>
            </a:r>
            <a:r>
              <a:rPr b="0" i="0" lang="en" sz="1900" u="none" cap="none" strike="noStrike">
                <a:solidFill>
                  <a:schemeClr val="dk1"/>
                </a:solidFill>
                <a:latin typeface="Times New Roman"/>
                <a:ea typeface="Times New Roman"/>
                <a:cs typeface="Times New Roman"/>
                <a:sym typeface="Times New Roman"/>
              </a:rPr>
              <a:t>group.</a:t>
            </a:r>
            <a:endParaRPr b="0" i="0" sz="1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578172" y="201757"/>
            <a:ext cx="8829900" cy="486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2400" u="none" cap="none" strike="noStrike">
                <a:solidFill>
                  <a:schemeClr val="dk1"/>
                </a:solidFill>
                <a:latin typeface="Times New Roman"/>
                <a:ea typeface="Times New Roman"/>
                <a:cs typeface="Times New Roman"/>
                <a:sym typeface="Times New Roman"/>
              </a:rPr>
              <a:t>Table of Contents</a:t>
            </a:r>
            <a:endParaRPr b="1"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51C75"/>
                </a:solidFill>
                <a:latin typeface="Arial"/>
                <a:ea typeface="Arial"/>
                <a:cs typeface="Arial"/>
                <a:sym typeface="Arial"/>
              </a:rPr>
              <a:t>  </a:t>
            </a:r>
            <a:endParaRPr b="0" i="0" sz="2000" u="none" cap="none" strike="noStrike">
              <a:solidFill>
                <a:srgbClr val="351C7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1. Abstract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2. Introduction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3. Problem Statement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4. Objectives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5. Literature Review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6. Methodology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7. Working</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8. Result and Discussions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9. Advantages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10. Applications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11. Limitations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12. Conclusion</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lang="en" sz="2000">
                <a:solidFill>
                  <a:schemeClr val="dk1"/>
                </a:solidFill>
                <a:latin typeface="Times New Roman"/>
                <a:ea typeface="Times New Roman"/>
                <a:cs typeface="Times New Roman"/>
                <a:sym typeface="Times New Roman"/>
              </a:rPr>
              <a:t>      </a:t>
            </a:r>
            <a:r>
              <a:rPr b="0" i="0" lang="en" sz="2000" u="none" cap="none" strike="noStrike">
                <a:solidFill>
                  <a:schemeClr val="dk1"/>
                </a:solidFill>
                <a:latin typeface="Times New Roman"/>
                <a:ea typeface="Times New Roman"/>
                <a:cs typeface="Times New Roman"/>
                <a:sym typeface="Times New Roman"/>
              </a:rPr>
              <a:t>Reference</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nvSpPr>
        <p:spPr>
          <a:xfrm>
            <a:off x="364273" y="245327"/>
            <a:ext cx="79619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Times New Roman"/>
                <a:ea typeface="Times New Roman"/>
                <a:cs typeface="Times New Roman"/>
                <a:sym typeface="Times New Roman"/>
              </a:rPr>
              <a:t>Abstract</a:t>
            </a:r>
            <a:endParaRPr b="1" i="0" sz="2800" u="none" cap="none" strike="noStrike">
              <a:solidFill>
                <a:srgbClr val="000000"/>
              </a:solidFill>
              <a:latin typeface="Times New Roman"/>
              <a:ea typeface="Times New Roman"/>
              <a:cs typeface="Times New Roman"/>
              <a:sym typeface="Times New Roman"/>
            </a:endParaRPr>
          </a:p>
        </p:txBody>
      </p:sp>
      <p:sp>
        <p:nvSpPr>
          <p:cNvPr id="93" name="Google Shape;93;p18"/>
          <p:cNvSpPr txBox="1"/>
          <p:nvPr/>
        </p:nvSpPr>
        <p:spPr>
          <a:xfrm>
            <a:off x="906976" y="1130225"/>
            <a:ext cx="7080600" cy="1708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lang="en" sz="2100">
                <a:latin typeface="Times New Roman"/>
                <a:ea typeface="Times New Roman"/>
                <a:cs typeface="Times New Roman"/>
                <a:sym typeface="Times New Roman"/>
              </a:rPr>
              <a:t>Smart glasses </a:t>
            </a:r>
            <a:r>
              <a:rPr b="0" i="0" lang="en" sz="2100" u="none" cap="none" strike="noStrike">
                <a:solidFill>
                  <a:srgbClr val="000000"/>
                </a:solidFill>
                <a:latin typeface="Times New Roman"/>
                <a:ea typeface="Times New Roman"/>
                <a:cs typeface="Times New Roman"/>
                <a:sym typeface="Times New Roman"/>
              </a:rPr>
              <a:t>includes a pair of glasses</a:t>
            </a:r>
            <a:r>
              <a:rPr lang="en" sz="2100">
                <a:latin typeface="Times New Roman"/>
                <a:ea typeface="Times New Roman"/>
                <a:cs typeface="Times New Roman"/>
                <a:sym typeface="Times New Roman"/>
              </a:rPr>
              <a:t>, </a:t>
            </a:r>
            <a:r>
              <a:rPr b="0" i="0" lang="en" sz="2100" u="none" cap="none" strike="noStrike">
                <a:solidFill>
                  <a:srgbClr val="000000"/>
                </a:solidFill>
                <a:latin typeface="Times New Roman"/>
                <a:ea typeface="Times New Roman"/>
                <a:cs typeface="Times New Roman"/>
                <a:sym typeface="Times New Roman"/>
              </a:rPr>
              <a:t>an obstacle detection module fitted in it in the center.These Ultrasonic Smart Glasses for Blind people is a portable device, easy to use, light weight, user friendly and cheap in price. These glasses could easily guide the blind people and help them avoid obstacles.</a:t>
            </a:r>
            <a:endParaRPr b="0" i="0" sz="21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a:off x="376615" y="352299"/>
            <a:ext cx="2906400" cy="69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Times New Roman"/>
                <a:ea typeface="Times New Roman"/>
                <a:cs typeface="Times New Roman"/>
                <a:sym typeface="Times New Roman"/>
              </a:rPr>
              <a:t>Introduction</a:t>
            </a:r>
            <a:endParaRPr b="1" i="0" sz="25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Times New Roman"/>
                <a:ea typeface="Times New Roman"/>
                <a:cs typeface="Times New Roman"/>
                <a:sym typeface="Times New Roman"/>
              </a:rPr>
              <a:t>       </a:t>
            </a:r>
            <a:endParaRPr b="1" i="0" sz="1800" u="none" cap="none" strike="noStrike">
              <a:solidFill>
                <a:schemeClr val="dk1"/>
              </a:solidFill>
              <a:latin typeface="Times New Roman"/>
              <a:ea typeface="Times New Roman"/>
              <a:cs typeface="Times New Roman"/>
              <a:sym typeface="Times New Roman"/>
            </a:endParaRPr>
          </a:p>
        </p:txBody>
      </p:sp>
      <p:sp>
        <p:nvSpPr>
          <p:cNvPr id="99" name="Google Shape;99;p19"/>
          <p:cNvSpPr txBox="1"/>
          <p:nvPr/>
        </p:nvSpPr>
        <p:spPr>
          <a:xfrm>
            <a:off x="992458" y="1104971"/>
            <a:ext cx="6969600" cy="3309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Times New Roman"/>
                <a:ea typeface="Times New Roman"/>
                <a:cs typeface="Times New Roman"/>
                <a:sym typeface="Times New Roman"/>
              </a:rPr>
              <a:t>Blindness is a highly widespread impairment among people all over the world. Worldwide, 285 million people are visually impaired, 39 million are blind, and 246 have low vision, according to the World Health Organization (WHO). Around 90% of people who are blind or visually impaired reside in developing nations. There was a solution for the blind people to walk safely by detecting obstacle and generating corresponding alert signal according to the distance of the obstacle. This smart glasses can help blind people navigate safely by alerting them about obstacles in their way. Using basic electronic parts like sensors and timers, we’ve made glasses that can detect obstacles and warn the wearer with a sound. </a:t>
            </a:r>
            <a:endParaRPr b="0" i="0" sz="19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nvSpPr>
        <p:spPr>
          <a:xfrm>
            <a:off x="149675" y="151950"/>
            <a:ext cx="8143200" cy="485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700" u="none" cap="none" strike="noStrike">
                <a:solidFill>
                  <a:schemeClr val="dk1"/>
                </a:solidFill>
                <a:latin typeface="Times New Roman"/>
                <a:ea typeface="Times New Roman"/>
                <a:cs typeface="Times New Roman"/>
                <a:sym typeface="Times New Roman"/>
              </a:rPr>
              <a:t>PROBLEM </a:t>
            </a:r>
            <a:r>
              <a:rPr b="1" lang="en" sz="2700">
                <a:solidFill>
                  <a:schemeClr val="dk1"/>
                </a:solidFill>
                <a:latin typeface="Times New Roman"/>
                <a:ea typeface="Times New Roman"/>
                <a:cs typeface="Times New Roman"/>
                <a:sym typeface="Times New Roman"/>
              </a:rPr>
              <a:t>IDENTIFICATION</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9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1200"/>
              </a:spcBef>
              <a:spcAft>
                <a:spcPts val="0"/>
              </a:spcAft>
              <a:buClr>
                <a:schemeClr val="dk1"/>
              </a:buClr>
              <a:buSzPts val="2100"/>
              <a:buFont typeface="Times New Roman"/>
              <a:buChar char="❖"/>
            </a:pPr>
            <a:r>
              <a:rPr b="0" i="0" lang="en" sz="2100" u="none" cap="none" strike="noStrike">
                <a:solidFill>
                  <a:schemeClr val="dk1"/>
                </a:solidFill>
                <a:latin typeface="Times New Roman"/>
                <a:ea typeface="Times New Roman"/>
                <a:cs typeface="Times New Roman"/>
                <a:sym typeface="Times New Roman"/>
              </a:rPr>
              <a:t> One  of  the most  misunderstood  disabilities  is  blindness. The  general populace has preconceptions about the blind that they feel are accurate.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 sz="2100" u="none" cap="none" strike="noStrike">
                <a:solidFill>
                  <a:schemeClr val="dk1"/>
                </a:solidFill>
                <a:latin typeface="Times New Roman"/>
                <a:ea typeface="Times New Roman"/>
                <a:cs typeface="Times New Roman"/>
                <a:sym typeface="Times New Roman"/>
              </a:rPr>
              <a:t>Some people feel that the blind can't work or live a regular life on their own. There is some truth in the public's perception, as the blind do experience difficulties.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 sz="2100" u="none" cap="none" strike="noStrike">
                <a:solidFill>
                  <a:schemeClr val="dk1"/>
                </a:solidFill>
                <a:latin typeface="Times New Roman"/>
                <a:ea typeface="Times New Roman"/>
                <a:cs typeface="Times New Roman"/>
                <a:sym typeface="Times New Roman"/>
              </a:rPr>
              <a:t>Some  of  these  challenges  include  being  unable  to  move,  requiring assistance  from  others, and  so on.  It can  be  difficult  to  perceive  an obstacle or detect it in time.</a:t>
            </a:r>
            <a:endParaRPr b="0" i="0" sz="21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nvSpPr>
        <p:spPr>
          <a:xfrm>
            <a:off x="256218" y="392177"/>
            <a:ext cx="8744400" cy="52965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000000"/>
                </a:solidFill>
                <a:latin typeface="Times New Roman"/>
                <a:ea typeface="Times New Roman"/>
                <a:cs typeface="Times New Roman"/>
                <a:sym typeface="Times New Roman"/>
              </a:rPr>
              <a:t>OBJECTIVES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p:txBody>
      </p:sp>
      <p:sp>
        <p:nvSpPr>
          <p:cNvPr id="110" name="Google Shape;110;p21"/>
          <p:cNvSpPr txBox="1"/>
          <p:nvPr/>
        </p:nvSpPr>
        <p:spPr>
          <a:xfrm>
            <a:off x="788775" y="1271825"/>
            <a:ext cx="7997400" cy="2185800"/>
          </a:xfrm>
          <a:prstGeom prst="rect">
            <a:avLst/>
          </a:prstGeom>
          <a:noFill/>
          <a:ln>
            <a:noFill/>
          </a:ln>
        </p:spPr>
        <p:txBody>
          <a:bodyPr anchorCtr="0" anchor="t" bIns="45700" lIns="91425" spcFirstLastPara="1" rIns="91425" wrap="square" tIns="45700">
            <a:spAutoFit/>
          </a:bodyPr>
          <a:lstStyle/>
          <a:p>
            <a:pPr indent="-292100" lvl="0" marL="285750" marR="0" rtl="0" algn="just">
              <a:lnSpc>
                <a:spcPct val="100000"/>
              </a:lnSpc>
              <a:spcBef>
                <a:spcPts val="0"/>
              </a:spcBef>
              <a:spcAft>
                <a:spcPts val="0"/>
              </a:spcAft>
              <a:buClr>
                <a:srgbClr val="000000"/>
              </a:buClr>
              <a:buSzPts val="2100"/>
              <a:buFont typeface="Times New Roman"/>
              <a:buChar char="•"/>
            </a:pPr>
            <a:r>
              <a:rPr b="0" i="0" lang="en" sz="2100" u="none" cap="none" strike="noStrike">
                <a:solidFill>
                  <a:srgbClr val="000000"/>
                </a:solidFill>
                <a:latin typeface="Times New Roman"/>
                <a:ea typeface="Times New Roman"/>
                <a:cs typeface="Times New Roman"/>
                <a:sym typeface="Times New Roman"/>
              </a:rPr>
              <a:t>The ultrasonic smart glasses is an innovative glasses designed for visually disabled people for improved navigation.</a:t>
            </a:r>
            <a:endParaRPr sz="2100">
              <a:latin typeface="Times New Roman"/>
              <a:ea typeface="Times New Roman"/>
              <a:cs typeface="Times New Roman"/>
              <a:sym typeface="Times New Roman"/>
            </a:endParaRPr>
          </a:p>
          <a:p>
            <a:pPr indent="-361950" lvl="0" marL="457200" marR="0" rtl="0" algn="l">
              <a:lnSpc>
                <a:spcPct val="100000"/>
              </a:lnSpc>
              <a:spcBef>
                <a:spcPts val="1200"/>
              </a:spcBef>
              <a:spcAft>
                <a:spcPts val="0"/>
              </a:spcAft>
              <a:buClr>
                <a:schemeClr val="dk1"/>
              </a:buClr>
              <a:buSzPts val="2100"/>
              <a:buFont typeface="Times New Roman"/>
              <a:buChar char="•"/>
            </a:pPr>
            <a:r>
              <a:rPr b="0" i="0" lang="en" sz="2100" u="none" cap="none" strike="noStrike">
                <a:solidFill>
                  <a:schemeClr val="dk1"/>
                </a:solidFill>
                <a:latin typeface="Times New Roman"/>
                <a:ea typeface="Times New Roman"/>
                <a:cs typeface="Times New Roman"/>
                <a:sym typeface="Times New Roman"/>
              </a:rPr>
              <a:t> Deliver Real-Time Feedback</a:t>
            </a:r>
            <a:r>
              <a:rPr b="1" i="0" lang="en" sz="2100" u="none" cap="none" strike="noStrike">
                <a:solidFill>
                  <a:schemeClr val="dk1"/>
                </a:solidFill>
                <a:latin typeface="Times New Roman"/>
                <a:ea typeface="Times New Roman"/>
                <a:cs typeface="Times New Roman"/>
                <a:sym typeface="Times New Roman"/>
              </a:rPr>
              <a:t> </a:t>
            </a:r>
            <a:r>
              <a:rPr b="0" i="0" lang="en" sz="2100" u="none" cap="none" strike="noStrike">
                <a:solidFill>
                  <a:schemeClr val="dk1"/>
                </a:solidFill>
                <a:latin typeface="Times New Roman"/>
                <a:ea typeface="Times New Roman"/>
                <a:cs typeface="Times New Roman"/>
                <a:sym typeface="Times New Roman"/>
              </a:rPr>
              <a:t>is to Ensure the glasses can quickly process and relay information about obstacles and surroundings without causing delays or confusion.</a:t>
            </a:r>
            <a:endParaRPr b="0" i="0" sz="2100" u="none" cap="none" strike="noStrike">
              <a:solidFill>
                <a:schemeClr val="dk1"/>
              </a:solidFill>
              <a:latin typeface="Times New Roman"/>
              <a:ea typeface="Times New Roman"/>
              <a:cs typeface="Times New Roman"/>
              <a:sym typeface="Times New Roman"/>
            </a:endParaRPr>
          </a:p>
          <a:p>
            <a:pPr indent="-292100" lvl="0" marL="285750" marR="0" rtl="0" algn="just">
              <a:lnSpc>
                <a:spcPct val="100000"/>
              </a:lnSpc>
              <a:spcBef>
                <a:spcPts val="0"/>
              </a:spcBef>
              <a:spcAft>
                <a:spcPts val="0"/>
              </a:spcAft>
              <a:buClr>
                <a:schemeClr val="dk1"/>
              </a:buClr>
              <a:buSzPts val="2100"/>
              <a:buFont typeface="Times New Roman"/>
              <a:buChar char="•"/>
            </a:pPr>
            <a:r>
              <a:rPr b="0" i="0" lang="en" sz="2100" u="none" cap="none" strike="noStrike">
                <a:solidFill>
                  <a:schemeClr val="dk1"/>
                </a:solidFill>
                <a:latin typeface="Times New Roman"/>
                <a:ea typeface="Times New Roman"/>
                <a:cs typeface="Times New Roman"/>
                <a:sym typeface="Times New Roman"/>
              </a:rPr>
              <a:t> It is Cost efficiency, Light weight, Portable &amp; easy to use.</a:t>
            </a:r>
            <a:endParaRPr b="0" i="0" sz="2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nvSpPr>
        <p:spPr>
          <a:xfrm>
            <a:off x="245250" y="56000"/>
            <a:ext cx="3420900" cy="6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700" u="none" cap="none" strike="noStrike">
                <a:solidFill>
                  <a:schemeClr val="dk1"/>
                </a:solidFill>
                <a:latin typeface="Times New Roman"/>
                <a:ea typeface="Times New Roman"/>
                <a:cs typeface="Times New Roman"/>
                <a:sym typeface="Times New Roman"/>
              </a:rPr>
              <a:t>Literature Review</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700" u="none" cap="none" strike="noStrike">
              <a:solidFill>
                <a:schemeClr val="dk1"/>
              </a:solidFill>
              <a:latin typeface="Times New Roman"/>
              <a:ea typeface="Times New Roman"/>
              <a:cs typeface="Times New Roman"/>
              <a:sym typeface="Times New Roman"/>
            </a:endParaRPr>
          </a:p>
        </p:txBody>
      </p:sp>
      <p:sp>
        <p:nvSpPr>
          <p:cNvPr id="116" name="Google Shape;116;p22"/>
          <p:cNvSpPr txBox="1"/>
          <p:nvPr/>
        </p:nvSpPr>
        <p:spPr>
          <a:xfrm>
            <a:off x="325500" y="666854"/>
            <a:ext cx="8493000" cy="2215961"/>
          </a:xfrm>
          <a:prstGeom prst="rect">
            <a:avLst/>
          </a:prstGeom>
          <a:noFill/>
          <a:ln>
            <a:noFill/>
          </a:ln>
        </p:spPr>
        <p:txBody>
          <a:bodyPr anchorCtr="0" anchor="t" bIns="91425" lIns="91425" spcFirstLastPara="1" rIns="91425" wrap="square" tIns="91425">
            <a:spAutoFit/>
          </a:bodyPr>
          <a:lstStyle/>
          <a:p>
            <a:pPr indent="-317500" lvl="0" marL="457200" marR="0" rtl="0" algn="just">
              <a:lnSpc>
                <a:spcPct val="100000"/>
              </a:lnSpc>
              <a:spcBef>
                <a:spcPts val="0"/>
              </a:spcBef>
              <a:spcAft>
                <a:spcPts val="0"/>
              </a:spcAft>
              <a:buClr>
                <a:srgbClr val="351C75"/>
              </a:buClr>
              <a:buSzPts val="1400"/>
              <a:buFont typeface="Times New Roman"/>
              <a:buChar char="❏"/>
            </a:pPr>
            <a:r>
              <a:rPr b="1" i="0" lang="en" sz="2000" u="none" cap="none" strike="noStrike">
                <a:solidFill>
                  <a:schemeClr val="dk1"/>
                </a:solidFill>
                <a:latin typeface="Times New Roman"/>
                <a:ea typeface="Times New Roman"/>
                <a:cs typeface="Times New Roman"/>
                <a:sym typeface="Times New Roman"/>
              </a:rPr>
              <a:t>PREVIOUS WORK</a:t>
            </a:r>
            <a:r>
              <a:rPr b="1" i="0" lang="en" sz="1600" u="none" cap="none" strike="noStrike">
                <a:solidFill>
                  <a:schemeClr val="dk1"/>
                </a:solidFill>
                <a:latin typeface="Times New Roman"/>
                <a:ea typeface="Times New Roman"/>
                <a:cs typeface="Times New Roman"/>
                <a:sym typeface="Times New Roman"/>
              </a:rPr>
              <a:t>:</a:t>
            </a:r>
            <a:r>
              <a:rPr b="0" i="0" lang="en" sz="1600" u="none" cap="none" strike="noStrike">
                <a:solidFill>
                  <a:schemeClr val="dk1"/>
                </a:solidFill>
                <a:latin typeface="Times New Roman"/>
                <a:ea typeface="Times New Roman"/>
                <a:cs typeface="Times New Roman"/>
                <a:sym typeface="Times New Roman"/>
              </a:rPr>
              <a:t> </a:t>
            </a:r>
            <a:endParaRPr b="0" i="0" sz="1600" u="none" cap="none" strike="noStrike">
              <a:solidFill>
                <a:schemeClr val="dk1"/>
              </a:solidFill>
              <a:latin typeface="Times New Roman"/>
              <a:ea typeface="Times New Roman"/>
              <a:cs typeface="Times New Roman"/>
              <a:sym typeface="Times New Roman"/>
            </a:endParaRPr>
          </a:p>
          <a:p>
            <a:pPr indent="-342900" lvl="0" marL="482600" marR="0" rtl="0" algn="just">
              <a:lnSpc>
                <a:spcPct val="100000"/>
              </a:lnSpc>
              <a:spcBef>
                <a:spcPts val="0"/>
              </a:spcBef>
              <a:spcAft>
                <a:spcPts val="0"/>
              </a:spcAft>
              <a:buClr>
                <a:srgbClr val="351C75"/>
              </a:buClr>
              <a:buSzPts val="1400"/>
              <a:buFont typeface="Arial"/>
              <a:buAutoNum type="arabicPeriod"/>
            </a:pPr>
            <a:r>
              <a:rPr b="0" i="0" lang="en" sz="1600" u="none" cap="none" strike="noStrike">
                <a:solidFill>
                  <a:schemeClr val="dk1"/>
                </a:solidFill>
                <a:latin typeface="Times New Roman"/>
                <a:ea typeface="Times New Roman"/>
                <a:cs typeface="Times New Roman"/>
                <a:sym typeface="Times New Roman"/>
              </a:rPr>
              <a:t>System For Blind People (International Journal of Open Information Technologies ISSN: 2307-8162 vol. 7, no.5, 2019.</a:t>
            </a:r>
            <a:endParaRPr b="0" i="0" sz="1600" u="none" cap="none" strike="noStrike">
              <a:solidFill>
                <a:schemeClr val="dk1"/>
              </a:solidFill>
              <a:latin typeface="Times New Roman"/>
              <a:ea typeface="Times New Roman"/>
              <a:cs typeface="Times New Roman"/>
              <a:sym typeface="Times New Roman"/>
            </a:endParaRPr>
          </a:p>
          <a:p>
            <a:pPr indent="0" lvl="0" marL="13970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Times New Roman"/>
                <a:ea typeface="Times New Roman"/>
                <a:cs typeface="Times New Roman"/>
                <a:sym typeface="Times New Roman"/>
              </a:rPr>
              <a:t>It provided GPS-based real-time help and was incredibly comfortable, simple to use, and effortless to navigate. Smart sticks powered by Raspberry Pi can detect objects and alert the blind via buzzer sound.A thorough analysis of the suggested system will aid in choosing a novel approach to the current system.</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117" name="Google Shape;117;p22"/>
          <p:cNvSpPr txBox="1"/>
          <p:nvPr/>
        </p:nvSpPr>
        <p:spPr>
          <a:xfrm>
            <a:off x="325500" y="2570491"/>
            <a:ext cx="8493000" cy="2369849"/>
          </a:xfrm>
          <a:prstGeom prst="rect">
            <a:avLst/>
          </a:prstGeom>
          <a:noFill/>
          <a:ln>
            <a:noFill/>
          </a:ln>
        </p:spPr>
        <p:txBody>
          <a:bodyPr anchorCtr="0" anchor="t" bIns="91425" lIns="91425" spcFirstLastPara="1" rIns="91425" wrap="square" tIns="91425">
            <a:spAutoFit/>
          </a:bodyPr>
          <a:lstStyle/>
          <a:p>
            <a:pPr indent="0" lvl="0" marL="13970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Times New Roman"/>
                <a:ea typeface="Times New Roman"/>
                <a:cs typeface="Times New Roman"/>
                <a:sym typeface="Times New Roman"/>
              </a:rPr>
              <a:t>2.   S.Chew , “Electronic Path Guidance for Visually Impaired People”, The International Journal Of Engineering </a:t>
            </a:r>
            <a:endParaRPr b="0" i="0" sz="1400" u="none" cap="none" strike="noStrike">
              <a:solidFill>
                <a:srgbClr val="000000"/>
              </a:solidFill>
              <a:latin typeface="Arial"/>
              <a:ea typeface="Arial"/>
              <a:cs typeface="Arial"/>
              <a:sym typeface="Arial"/>
            </a:endParaRPr>
          </a:p>
          <a:p>
            <a:pPr indent="0" lvl="0" marL="13970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Times New Roman"/>
                <a:ea typeface="Times New Roman"/>
                <a:cs typeface="Times New Roman"/>
                <a:sym typeface="Times New Roman"/>
              </a:rPr>
              <a:t>And Science (IJES), Vol.2, No.4, pp.9-12, April 2012 </a:t>
            </a:r>
            <a:endParaRPr b="0" i="0" sz="1400" u="none" cap="none" strike="noStrike">
              <a:solidFill>
                <a:srgbClr val="000000"/>
              </a:solidFill>
              <a:latin typeface="Arial"/>
              <a:ea typeface="Arial"/>
              <a:cs typeface="Arial"/>
              <a:sym typeface="Arial"/>
            </a:endParaRPr>
          </a:p>
          <a:p>
            <a:pPr indent="0" lvl="0" marL="13970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Times New Roman"/>
                <a:ea typeface="Times New Roman"/>
                <a:cs typeface="Times New Roman"/>
                <a:sym typeface="Times New Roman"/>
              </a:rPr>
              <a:t>Blind spot, a smart white cane that integrates GPS technology, social networking, and ultrasonic sensors to aid those with visual impairments in navigating public settings, was proposed. By employing ultrasonic sensors, the GPS locates the barrier and warns the blind to avoid running into it. However, since ultrasonic measures the distance of the obstruction, GPS did not demonstrate its effectiveness in tracing its location.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nvSpPr>
        <p:spPr>
          <a:xfrm>
            <a:off x="325500" y="2807959"/>
            <a:ext cx="8629200" cy="1632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t/>
            </a:r>
            <a:endParaRPr b="0" i="0" sz="1700" u="none" cap="none" strike="noStrike">
              <a:solidFill>
                <a:schemeClr val="dk1"/>
              </a:solidFill>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rgbClr val="351C75"/>
              </a:buClr>
              <a:buSzPts val="1900"/>
              <a:buFont typeface="Times New Roman"/>
              <a:buChar char="❏"/>
            </a:pPr>
            <a:r>
              <a:rPr b="1" i="0" lang="en" sz="2400" u="none" cap="none" strike="noStrike">
                <a:solidFill>
                  <a:schemeClr val="dk1"/>
                </a:solidFill>
                <a:latin typeface="Times New Roman"/>
                <a:ea typeface="Times New Roman"/>
                <a:cs typeface="Times New Roman"/>
                <a:sym typeface="Times New Roman"/>
              </a:rPr>
              <a:t>GAP ANALYSIS</a:t>
            </a:r>
            <a:r>
              <a:rPr b="1" i="0" lang="en" sz="1900" u="none" cap="none" strike="noStrike">
                <a:solidFill>
                  <a:schemeClr val="dk1"/>
                </a:solidFill>
                <a:latin typeface="Times New Roman"/>
                <a:ea typeface="Times New Roman"/>
                <a:cs typeface="Times New Roman"/>
                <a:sym typeface="Times New Roman"/>
              </a:rPr>
              <a:t>:</a:t>
            </a:r>
            <a:endParaRPr b="1" i="0" sz="19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imes New Roman"/>
                <a:ea typeface="Times New Roman"/>
                <a:cs typeface="Times New Roman"/>
                <a:sym typeface="Times New Roman"/>
              </a:rPr>
              <a:t> Describes the obstacles detection module, which is mounted on sunglasses and equipped with an ultrasonic sensor, a processing unit, and a buzzer that detects impediments and emits a buzzing sound to assist the blind.</a:t>
            </a:r>
            <a:endParaRPr b="0" i="0" sz="19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123" name="Google Shape;123;p23"/>
          <p:cNvSpPr txBox="1"/>
          <p:nvPr/>
        </p:nvSpPr>
        <p:spPr>
          <a:xfrm>
            <a:off x="393600" y="789481"/>
            <a:ext cx="8493000" cy="1908184"/>
          </a:xfrm>
          <a:prstGeom prst="rect">
            <a:avLst/>
          </a:prstGeom>
          <a:noFill/>
          <a:ln>
            <a:noFill/>
          </a:ln>
        </p:spPr>
        <p:txBody>
          <a:bodyPr anchorCtr="0" anchor="t" bIns="91425" lIns="91425" spcFirstLastPara="1" rIns="91425" wrap="square" tIns="91425">
            <a:spAutoFit/>
          </a:bodyPr>
          <a:lstStyle/>
          <a:p>
            <a:pPr indent="-342900" lvl="0" marL="482600" marR="0" rtl="0" algn="just">
              <a:lnSpc>
                <a:spcPct val="100000"/>
              </a:lnSpc>
              <a:spcBef>
                <a:spcPts val="0"/>
              </a:spcBef>
              <a:spcAft>
                <a:spcPts val="0"/>
              </a:spcAft>
              <a:buClr>
                <a:srgbClr val="351C75"/>
              </a:buClr>
              <a:buSzPts val="1400"/>
              <a:buFont typeface="Arial"/>
              <a:buAutoNum type="arabicPeriod" startAt="3"/>
            </a:pPr>
            <a:r>
              <a:rPr b="0" i="0" lang="en" sz="1600" u="none" cap="none" strike="noStrike">
                <a:solidFill>
                  <a:schemeClr val="dk1"/>
                </a:solidFill>
                <a:latin typeface="Times New Roman"/>
                <a:ea typeface="Times New Roman"/>
                <a:cs typeface="Times New Roman"/>
                <a:sym typeface="Times New Roman"/>
              </a:rPr>
              <a:t>Rohit agarwal (2020) “low cost ultrasonic smart glasses for blind” </a:t>
            </a:r>
            <a:endParaRPr b="0" i="0" sz="1400" u="none" cap="none" strike="noStrike">
              <a:solidFill>
                <a:srgbClr val="000000"/>
              </a:solidFill>
              <a:latin typeface="Arial"/>
              <a:ea typeface="Arial"/>
              <a:cs typeface="Arial"/>
              <a:sym typeface="Arial"/>
            </a:endParaRPr>
          </a:p>
          <a:p>
            <a:pPr indent="0" lvl="0" marL="13970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Times New Roman"/>
                <a:ea typeface="Times New Roman"/>
                <a:cs typeface="Times New Roman"/>
                <a:sym typeface="Times New Roman"/>
              </a:rPr>
              <a:t>Suggested a mechanism to aid users who are blind in their navigation. The suggested architecture and design will make it possible for blind individuals to walk around freely and independently. In this article, we examined the current electronic assistive devices for the blind. In comparison to existing systems, the one that was offered was more beneficial and effective. In terms of localisation, it will be able to accurately pinpoint the blind person's location with the aid of the GPS in the event that s/he gets lost or encounters any hazard.</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nvSpPr>
        <p:spPr>
          <a:xfrm>
            <a:off x="319668" y="438615"/>
            <a:ext cx="788763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Times New Roman"/>
                <a:ea typeface="Times New Roman"/>
                <a:cs typeface="Times New Roman"/>
                <a:sym typeface="Times New Roman"/>
              </a:rPr>
              <a:t>Description</a:t>
            </a:r>
            <a:endParaRPr b="1" i="0" sz="1800" u="none" cap="none" strike="noStrike">
              <a:solidFill>
                <a:srgbClr val="000000"/>
              </a:solidFill>
              <a:latin typeface="Times New Roman"/>
              <a:ea typeface="Times New Roman"/>
              <a:cs typeface="Times New Roman"/>
              <a:sym typeface="Times New Roman"/>
            </a:endParaRPr>
          </a:p>
        </p:txBody>
      </p:sp>
      <p:sp>
        <p:nvSpPr>
          <p:cNvPr id="129" name="Google Shape;129;p24"/>
          <p:cNvSpPr txBox="1"/>
          <p:nvPr/>
        </p:nvSpPr>
        <p:spPr>
          <a:xfrm>
            <a:off x="618207" y="1024962"/>
            <a:ext cx="8103300" cy="3894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 sz="1900" u="none" cap="none" strike="noStrike">
                <a:solidFill>
                  <a:srgbClr val="000000"/>
                </a:solidFill>
                <a:highlight>
                  <a:srgbClr val="FFFFFF"/>
                </a:highlight>
                <a:latin typeface="Times New Roman"/>
                <a:ea typeface="Times New Roman"/>
                <a:cs typeface="Times New Roman"/>
                <a:sym typeface="Times New Roman"/>
              </a:rPr>
              <a:t>A smart ultrasonic glasses for blind people comprises of a pair of wearable glasses, ultrasonic sensors for detection of obstacles in the way of blind man, a buzzer to give the sound as per the direction of the obstacle from the man, a central processing unit comprising of 555 Timer which takes the information from the sensor about the obstacle distance and sends the output through the buzzer, power supply is given to the central unit which distributes the power to different components. The sensor is mounted in between of the top bar and bridge present in optical glasses. All the components are connected to the central unit using single strand copper wires.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nvSpPr>
        <p:spPr>
          <a:xfrm>
            <a:off x="465724" y="399695"/>
            <a:ext cx="8901300" cy="486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51C75"/>
                </a:solidFill>
                <a:latin typeface="Times New Roman"/>
                <a:ea typeface="Times New Roman"/>
                <a:cs typeface="Times New Roman"/>
                <a:sym typeface="Times New Roman"/>
              </a:rPr>
              <a:t>   </a:t>
            </a:r>
            <a:endParaRPr b="1" i="0" sz="1800" u="none" cap="none" strike="noStrike">
              <a:solidFill>
                <a:srgbClr val="351C75"/>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351C75"/>
              </a:buClr>
              <a:buSzPts val="2400"/>
              <a:buFont typeface="Times New Roman"/>
              <a:buChar char="❏"/>
            </a:pPr>
            <a:r>
              <a:rPr b="1" i="0" lang="en" sz="2400" u="none" cap="none" strike="noStrike">
                <a:solidFill>
                  <a:schemeClr val="dk1"/>
                </a:solidFill>
                <a:latin typeface="Times New Roman"/>
                <a:ea typeface="Times New Roman"/>
                <a:cs typeface="Times New Roman"/>
                <a:sym typeface="Times New Roman"/>
              </a:rPr>
              <a:t>Hardware Requirements for Smart Glasses</a:t>
            </a:r>
            <a:endParaRPr b="0" i="0" sz="1400" u="none" cap="none" strike="noStrike">
              <a:solidFill>
                <a:srgbClr val="000000"/>
              </a:solidFill>
              <a:latin typeface="Arial"/>
              <a:ea typeface="Arial"/>
              <a:cs typeface="Arial"/>
              <a:sym typeface="Arial"/>
            </a:endParaRPr>
          </a:p>
          <a:p>
            <a:pPr indent="0" lvl="0" marL="76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351C75"/>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rgbClr val="351C75"/>
                </a:solidFill>
                <a:latin typeface="Times New Roman"/>
                <a:ea typeface="Times New Roman"/>
                <a:cs typeface="Times New Roman"/>
                <a:sym typeface="Times New Roman"/>
              </a:rPr>
              <a:t> </a:t>
            </a:r>
            <a:r>
              <a:rPr b="0" i="0" lang="en" sz="2100" u="none" cap="none" strike="noStrike">
                <a:solidFill>
                  <a:schemeClr val="dk1"/>
                </a:solidFill>
                <a:latin typeface="Times New Roman"/>
                <a:ea typeface="Times New Roman"/>
                <a:cs typeface="Times New Roman"/>
                <a:sym typeface="Times New Roman"/>
              </a:rPr>
              <a:t>555 Timer IC</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Ultrasonic sensor</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10k ohm preset potentiometer</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10 microfarad capacitor</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Goggles or glasses</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1k ohm resistor</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Buzzer</a:t>
            </a:r>
            <a:endParaRPr b="0" i="0" sz="1400" u="none" cap="none" strike="noStrike">
              <a:solidFill>
                <a:srgbClr val="000000"/>
              </a:solidFill>
              <a:latin typeface="Arial"/>
              <a:ea typeface="Arial"/>
              <a:cs typeface="Arial"/>
              <a:sym typeface="Arial"/>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TP4056 Charging Module</a:t>
            </a:r>
            <a:endParaRPr b="0" i="0" sz="2100" u="none" cap="none" strike="noStrike">
              <a:solidFill>
                <a:schemeClr val="dk1"/>
              </a:solidFill>
              <a:latin typeface="Times New Roman"/>
              <a:ea typeface="Times New Roman"/>
              <a:cs typeface="Times New Roman"/>
              <a:sym typeface="Times New Roman"/>
            </a:endParaRPr>
          </a:p>
          <a:p>
            <a:pPr indent="-342900" lvl="0" marL="438150" marR="0" rtl="0" algn="l">
              <a:lnSpc>
                <a:spcPct val="100000"/>
              </a:lnSpc>
              <a:spcBef>
                <a:spcPts val="0"/>
              </a:spcBef>
              <a:spcAft>
                <a:spcPts val="0"/>
              </a:spcAft>
              <a:buClr>
                <a:srgbClr val="351C75"/>
              </a:buClr>
              <a:buSzPts val="2100"/>
              <a:buFont typeface="Arial"/>
              <a:buChar char="•"/>
            </a:pPr>
            <a:r>
              <a:rPr b="0" i="0" lang="en" sz="2100" u="none" cap="none" strike="noStrike">
                <a:solidFill>
                  <a:schemeClr val="dk1"/>
                </a:solidFill>
                <a:latin typeface="Times New Roman"/>
                <a:ea typeface="Times New Roman"/>
                <a:cs typeface="Times New Roman"/>
                <a:sym typeface="Times New Roman"/>
              </a:rPr>
              <a:t>3.7v battery</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2100" u="none" cap="none" strike="noStrike">
              <a:solidFill>
                <a:srgbClr val="351C75"/>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6"/>
          <p:cNvPicPr preferRelativeResize="0"/>
          <p:nvPr/>
        </p:nvPicPr>
        <p:blipFill rotWithShape="1">
          <a:blip r:embed="rId3">
            <a:alphaModFix/>
          </a:blip>
          <a:srcRect b="0" l="0" r="0" t="0"/>
          <a:stretch/>
        </p:blipFill>
        <p:spPr>
          <a:xfrm>
            <a:off x="2644625" y="2571750"/>
            <a:ext cx="3323076" cy="2398575"/>
          </a:xfrm>
          <a:prstGeom prst="rect">
            <a:avLst/>
          </a:prstGeom>
          <a:noFill/>
          <a:ln>
            <a:noFill/>
          </a:ln>
        </p:spPr>
      </p:pic>
      <p:sp>
        <p:nvSpPr>
          <p:cNvPr id="140" name="Google Shape;140;p26"/>
          <p:cNvSpPr txBox="1"/>
          <p:nvPr/>
        </p:nvSpPr>
        <p:spPr>
          <a:xfrm>
            <a:off x="319668" y="178420"/>
            <a:ext cx="8333700" cy="249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900" u="none" cap="none" strike="noStrike">
                <a:solidFill>
                  <a:schemeClr val="dk2"/>
                </a:solidFill>
                <a:latin typeface="Times New Roman"/>
                <a:ea typeface="Times New Roman"/>
                <a:cs typeface="Times New Roman"/>
                <a:sym typeface="Times New Roman"/>
              </a:rPr>
              <a:t>1 .</a:t>
            </a:r>
            <a:r>
              <a:rPr b="1" i="0" lang="en" sz="2300" u="none" cap="none" strike="noStrike">
                <a:solidFill>
                  <a:srgbClr val="351C75"/>
                </a:solidFill>
                <a:latin typeface="Times New Roman"/>
                <a:ea typeface="Times New Roman"/>
                <a:cs typeface="Times New Roman"/>
                <a:sym typeface="Times New Roman"/>
              </a:rPr>
              <a:t> </a:t>
            </a:r>
            <a:r>
              <a:rPr b="1" i="0" lang="en" sz="2300" u="none" cap="none" strike="noStrike">
                <a:solidFill>
                  <a:schemeClr val="dk1"/>
                </a:solidFill>
                <a:latin typeface="Times New Roman"/>
                <a:ea typeface="Times New Roman"/>
                <a:cs typeface="Times New Roman"/>
                <a:sym typeface="Times New Roman"/>
              </a:rPr>
              <a:t>555 Timer IC:</a:t>
            </a:r>
            <a:r>
              <a:rPr b="0" i="0" lang="en" sz="1900" u="none" cap="none" strike="noStrike">
                <a:solidFill>
                  <a:schemeClr val="dk1"/>
                </a:solidFill>
                <a:latin typeface="Times New Roman"/>
                <a:ea typeface="Times New Roman"/>
                <a:cs typeface="Times New Roman"/>
                <a:sym typeface="Times New Roman"/>
              </a:rPr>
              <a:t>  The 555 timer IC is an integrated circuit used in a variety of timer, delay, pulse generation, and oscillator applications. It is one of the most popular timing ICs due to its flexibility and price. Derivatives provide two or four timing circuits in one package.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900" u="none" cap="none" strike="noStrike">
                <a:solidFill>
                  <a:schemeClr val="dk1"/>
                </a:solidFill>
                <a:latin typeface="Times New Roman"/>
                <a:ea typeface="Times New Roman"/>
                <a:cs typeface="Times New Roman"/>
                <a:sym typeface="Times New Roman"/>
              </a:rPr>
              <a:t>In this smart glasses project, the 555 Timer IC creates timing generating (PWM) or pulse-width modulation signals for the buzzer.</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nvSpPr>
        <p:spPr>
          <a:xfrm>
            <a:off x="297365" y="237893"/>
            <a:ext cx="8482500" cy="252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0000"/>
                </a:solidFill>
                <a:latin typeface="Times New Roman"/>
                <a:ea typeface="Times New Roman"/>
                <a:cs typeface="Times New Roman"/>
                <a:sym typeface="Times New Roman"/>
              </a:rPr>
              <a:t>2. </a:t>
            </a:r>
            <a:r>
              <a:rPr b="1" i="0" lang="en" sz="2300" u="none" cap="none" strike="noStrike">
                <a:solidFill>
                  <a:srgbClr val="000000"/>
                </a:solidFill>
                <a:latin typeface="Times New Roman"/>
                <a:ea typeface="Times New Roman"/>
                <a:cs typeface="Times New Roman"/>
                <a:sym typeface="Times New Roman"/>
              </a:rPr>
              <a:t>Ultrasonic sensor</a:t>
            </a:r>
            <a:r>
              <a:rPr b="0" i="0" lang="en" sz="2100" u="none" cap="none" strike="noStrike">
                <a:solidFill>
                  <a:srgbClr val="000000"/>
                </a:solidFill>
                <a:latin typeface="Times New Roman"/>
                <a:ea typeface="Times New Roman"/>
                <a:cs typeface="Times New Roman"/>
                <a:sym typeface="Times New Roman"/>
              </a:rPr>
              <a:t>: </a:t>
            </a:r>
            <a:r>
              <a:rPr b="0" i="0" lang="en" sz="1900" u="none" cap="none" strike="noStrike">
                <a:solidFill>
                  <a:srgbClr val="000000"/>
                </a:solidFill>
                <a:latin typeface="Times New Roman"/>
                <a:ea typeface="Times New Roman"/>
                <a:cs typeface="Times New Roman"/>
                <a:sym typeface="Times New Roman"/>
              </a:rPr>
              <a:t>Ultrasonic sensors can measure distance and detect the presence of an object without making physical contact. They do so by producing and monitoring an ultrasonic echo. Ultrasonic sensors use sound waves above the 20 kHz range to detect objects.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Times New Roman"/>
                <a:ea typeface="Times New Roman"/>
                <a:cs typeface="Times New Roman"/>
                <a:sym typeface="Times New Roman"/>
              </a:rPr>
              <a:t>The ultrasonic sensor is the primary input device, providing information about  obstacle in the wearer’s path.</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imes New Roman"/>
              <a:ea typeface="Times New Roman"/>
              <a:cs typeface="Times New Roman"/>
              <a:sym typeface="Times New Roman"/>
            </a:endParaRPr>
          </a:p>
        </p:txBody>
      </p:sp>
      <p:pic>
        <p:nvPicPr>
          <p:cNvPr id="146" name="Google Shape;146;p27"/>
          <p:cNvPicPr preferRelativeResize="0"/>
          <p:nvPr/>
        </p:nvPicPr>
        <p:blipFill rotWithShape="1">
          <a:blip r:embed="rId3">
            <a:alphaModFix/>
          </a:blip>
          <a:srcRect b="0" l="0" r="0" t="0"/>
          <a:stretch/>
        </p:blipFill>
        <p:spPr>
          <a:xfrm>
            <a:off x="2932175" y="2571749"/>
            <a:ext cx="2835550" cy="2383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nvSpPr>
        <p:spPr>
          <a:xfrm>
            <a:off x="520390" y="327102"/>
            <a:ext cx="8043600" cy="243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Times New Roman"/>
                <a:ea typeface="Times New Roman"/>
                <a:cs typeface="Times New Roman"/>
                <a:sym typeface="Times New Roman"/>
              </a:rPr>
              <a:t>3.Buzzer:</a:t>
            </a:r>
            <a:r>
              <a:rPr b="0" i="0" lang="en" sz="1900" u="none" cap="none" strike="noStrike">
                <a:solidFill>
                  <a:srgbClr val="000000"/>
                </a:solidFill>
                <a:latin typeface="Times New Roman"/>
                <a:ea typeface="Times New Roman"/>
                <a:cs typeface="Times New Roman"/>
                <a:sym typeface="Times New Roman"/>
              </a:rPr>
              <a:t>Buzzer meaning electronic component that generates sound through the transmission of electrical signals. Its primary function is to provide an audible alert or notification and typically operates within a voltage range of 5V to 12V.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imes New Roman"/>
                <a:ea typeface="Times New Roman"/>
                <a:cs typeface="Times New Roman"/>
                <a:sym typeface="Times New Roman"/>
              </a:rPr>
              <a:t>The buzzer is used to provide auditory feedback to the wearer about the presence of obstacles</a:t>
            </a:r>
            <a:endParaRPr b="1"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imes New Roman"/>
              <a:ea typeface="Times New Roman"/>
              <a:cs typeface="Times New Roman"/>
              <a:sym typeface="Times New Roman"/>
            </a:endParaRPr>
          </a:p>
        </p:txBody>
      </p:sp>
      <p:pic>
        <p:nvPicPr>
          <p:cNvPr id="152" name="Google Shape;152;p28"/>
          <p:cNvPicPr preferRelativeResize="0"/>
          <p:nvPr/>
        </p:nvPicPr>
        <p:blipFill rotWithShape="1">
          <a:blip r:embed="rId3">
            <a:alphaModFix/>
          </a:blip>
          <a:srcRect b="0" l="0" r="0" t="0"/>
          <a:stretch/>
        </p:blipFill>
        <p:spPr>
          <a:xfrm>
            <a:off x="3078700" y="2571750"/>
            <a:ext cx="2806975" cy="23188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nvSpPr>
        <p:spPr>
          <a:xfrm>
            <a:off x="438615" y="379141"/>
            <a:ext cx="4259700" cy="1585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Times New Roman"/>
                <a:ea typeface="Times New Roman"/>
                <a:cs typeface="Times New Roman"/>
                <a:sym typeface="Times New Roman"/>
              </a:rPr>
              <a:t>4.</a:t>
            </a:r>
            <a:r>
              <a:rPr b="1" i="0" lang="en" sz="2100" u="none" cap="none" strike="noStrike">
                <a:solidFill>
                  <a:schemeClr val="dk1"/>
                </a:solidFill>
                <a:latin typeface="Times New Roman"/>
                <a:ea typeface="Times New Roman"/>
                <a:cs typeface="Times New Roman"/>
                <a:sym typeface="Times New Roman"/>
              </a:rPr>
              <a:t> 10k ohm preset potentiometer: </a:t>
            </a:r>
            <a:r>
              <a:rPr b="0" i="0" lang="en" sz="1900" u="none" cap="none" strike="noStrike">
                <a:solidFill>
                  <a:schemeClr val="dk1"/>
                </a:solidFill>
                <a:latin typeface="Times New Roman"/>
                <a:ea typeface="Times New Roman"/>
                <a:cs typeface="Times New Roman"/>
                <a:sym typeface="Times New Roman"/>
              </a:rPr>
              <a:t>The potentiometer (variable resistor) allows you to adjust resistance manually. In our project, it is used for sensitivity adjustment of the ultrasonic sensor.</a:t>
            </a:r>
            <a:endParaRPr b="0" i="0" sz="1700" u="none" cap="none" strike="noStrike">
              <a:solidFill>
                <a:srgbClr val="000000"/>
              </a:solidFill>
              <a:latin typeface="Arial"/>
              <a:ea typeface="Arial"/>
              <a:cs typeface="Arial"/>
              <a:sym typeface="Arial"/>
            </a:endParaRPr>
          </a:p>
        </p:txBody>
      </p:sp>
      <p:sp>
        <p:nvSpPr>
          <p:cNvPr id="158" name="Google Shape;158;p29"/>
          <p:cNvSpPr txBox="1"/>
          <p:nvPr/>
        </p:nvSpPr>
        <p:spPr>
          <a:xfrm>
            <a:off x="542693" y="3011564"/>
            <a:ext cx="4029300" cy="1847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Times New Roman"/>
                <a:ea typeface="Times New Roman"/>
                <a:cs typeface="Times New Roman"/>
                <a:sym typeface="Times New Roman"/>
              </a:rPr>
              <a:t>5</a:t>
            </a:r>
            <a:r>
              <a:rPr b="1" i="0" lang="en" sz="1900" u="none" cap="none" strike="noStrike">
                <a:solidFill>
                  <a:schemeClr val="dk1"/>
                </a:solidFill>
                <a:latin typeface="Times New Roman"/>
                <a:ea typeface="Times New Roman"/>
                <a:cs typeface="Times New Roman"/>
                <a:sym typeface="Times New Roman"/>
              </a:rPr>
              <a:t> . </a:t>
            </a:r>
            <a:r>
              <a:rPr b="1" i="0" lang="en" sz="2100" u="none" cap="none" strike="noStrike">
                <a:solidFill>
                  <a:schemeClr val="dk1"/>
                </a:solidFill>
                <a:latin typeface="Times New Roman"/>
                <a:ea typeface="Times New Roman"/>
                <a:cs typeface="Times New Roman"/>
                <a:sym typeface="Times New Roman"/>
              </a:rPr>
              <a:t>10 microfarad capacitor: </a:t>
            </a:r>
            <a:r>
              <a:rPr b="0" i="0" lang="en" sz="1900" u="none" cap="none" strike="noStrike">
                <a:solidFill>
                  <a:schemeClr val="dk1"/>
                </a:solidFill>
                <a:latin typeface="Times New Roman"/>
                <a:ea typeface="Times New Roman"/>
                <a:cs typeface="Times New Roman"/>
                <a:sym typeface="Times New Roman"/>
              </a:rPr>
              <a:t>The capacitor filters or smoothes out electrical signals. For example, it helps to stabilize voltage levels and reduce noise in the power supply.</a:t>
            </a:r>
            <a:endParaRPr b="0" i="0" sz="21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pic>
        <p:nvPicPr>
          <p:cNvPr id="159" name="Google Shape;159;p29"/>
          <p:cNvPicPr preferRelativeResize="0"/>
          <p:nvPr/>
        </p:nvPicPr>
        <p:blipFill rotWithShape="1">
          <a:blip r:embed="rId3">
            <a:alphaModFix/>
          </a:blip>
          <a:srcRect b="0" l="0" r="0" t="0"/>
          <a:stretch/>
        </p:blipFill>
        <p:spPr>
          <a:xfrm>
            <a:off x="6155473" y="325593"/>
            <a:ext cx="1963661" cy="1963661"/>
          </a:xfrm>
          <a:prstGeom prst="rect">
            <a:avLst/>
          </a:prstGeom>
          <a:noFill/>
          <a:ln>
            <a:noFill/>
          </a:ln>
        </p:spPr>
      </p:pic>
      <p:pic>
        <p:nvPicPr>
          <p:cNvPr id="160" name="Google Shape;160;p29"/>
          <p:cNvPicPr preferRelativeResize="0"/>
          <p:nvPr/>
        </p:nvPicPr>
        <p:blipFill rotWithShape="1">
          <a:blip r:embed="rId4">
            <a:alphaModFix/>
          </a:blip>
          <a:srcRect b="0" l="0" r="0" t="0"/>
          <a:stretch/>
        </p:blipFill>
        <p:spPr>
          <a:xfrm>
            <a:off x="6325412" y="2893372"/>
            <a:ext cx="1680350" cy="168785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nvSpPr>
        <p:spPr>
          <a:xfrm>
            <a:off x="401431" y="576967"/>
            <a:ext cx="4824900" cy="158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Times New Roman"/>
                <a:ea typeface="Times New Roman"/>
                <a:cs typeface="Times New Roman"/>
                <a:sym typeface="Times New Roman"/>
              </a:rPr>
              <a:t>6 . 1k ohm resistor: </a:t>
            </a:r>
            <a:r>
              <a:rPr b="0" i="0" lang="en" sz="1900" u="none" cap="none" strike="noStrike">
                <a:solidFill>
                  <a:schemeClr val="dk1"/>
                </a:solidFill>
                <a:latin typeface="Times New Roman"/>
                <a:ea typeface="Times New Roman"/>
                <a:cs typeface="Times New Roman"/>
                <a:sym typeface="Times New Roman"/>
              </a:rPr>
              <a:t>The 1k ohm resistor is used in various parts of the circuit to control current flow and limit voltage levels for signal conditioning.</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166" name="Google Shape;166;p30"/>
          <p:cNvSpPr txBox="1"/>
          <p:nvPr/>
        </p:nvSpPr>
        <p:spPr>
          <a:xfrm>
            <a:off x="345687" y="2787804"/>
            <a:ext cx="4936200" cy="129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Times New Roman"/>
                <a:ea typeface="Times New Roman"/>
                <a:cs typeface="Times New Roman"/>
                <a:sym typeface="Times New Roman"/>
              </a:rPr>
              <a:t>7.Goggles or glasses: </a:t>
            </a:r>
            <a:r>
              <a:rPr b="0" i="0" lang="en" sz="1900" u="none" cap="none" strike="noStrike">
                <a:solidFill>
                  <a:srgbClr val="000000"/>
                </a:solidFill>
                <a:latin typeface="Times New Roman"/>
                <a:ea typeface="Times New Roman"/>
                <a:cs typeface="Times New Roman"/>
                <a:sym typeface="Times New Roman"/>
              </a:rPr>
              <a:t>These are the mounts for the electronic components. The glasses provide the wearable option</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p:txBody>
      </p:sp>
      <p:pic>
        <p:nvPicPr>
          <p:cNvPr id="167" name="Google Shape;167;p30"/>
          <p:cNvPicPr preferRelativeResize="0"/>
          <p:nvPr/>
        </p:nvPicPr>
        <p:blipFill rotWithShape="1">
          <a:blip r:embed="rId3">
            <a:alphaModFix/>
          </a:blip>
          <a:srcRect b="0" l="0" r="0" t="0"/>
          <a:stretch/>
        </p:blipFill>
        <p:spPr>
          <a:xfrm>
            <a:off x="5787979" y="729617"/>
            <a:ext cx="2691163" cy="834728"/>
          </a:xfrm>
          <a:prstGeom prst="rect">
            <a:avLst/>
          </a:prstGeom>
          <a:noFill/>
          <a:ln>
            <a:noFill/>
          </a:ln>
        </p:spPr>
      </p:pic>
      <p:pic>
        <p:nvPicPr>
          <p:cNvPr id="168" name="Google Shape;168;p30"/>
          <p:cNvPicPr preferRelativeResize="0"/>
          <p:nvPr/>
        </p:nvPicPr>
        <p:blipFill rotWithShape="1">
          <a:blip r:embed="rId4">
            <a:alphaModFix/>
          </a:blip>
          <a:srcRect b="0" l="0" r="0" t="0"/>
          <a:stretch/>
        </p:blipFill>
        <p:spPr>
          <a:xfrm>
            <a:off x="6084287" y="2378650"/>
            <a:ext cx="1803725" cy="21112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idx="1" type="body"/>
          </p:nvPr>
        </p:nvSpPr>
        <p:spPr>
          <a:xfrm>
            <a:off x="293325" y="403975"/>
            <a:ext cx="4992300" cy="2419200"/>
          </a:xfrm>
          <a:prstGeom prst="rect">
            <a:avLst/>
          </a:prstGeom>
          <a:noFill/>
          <a:ln>
            <a:noFill/>
          </a:ln>
        </p:spPr>
        <p:txBody>
          <a:bodyPr anchorCtr="0" anchor="t" bIns="91425" lIns="91425" spcFirstLastPara="1" rIns="91425" wrap="square" tIns="91425">
            <a:noAutofit/>
          </a:bodyPr>
          <a:lstStyle/>
          <a:p>
            <a:pPr indent="-171450" lvl="0" marL="285750" rtl="0" algn="l">
              <a:lnSpc>
                <a:spcPct val="105000"/>
              </a:lnSpc>
              <a:spcBef>
                <a:spcPts val="0"/>
              </a:spcBef>
              <a:spcAft>
                <a:spcPts val="0"/>
              </a:spcAft>
              <a:buClr>
                <a:schemeClr val="dk2"/>
              </a:buClr>
              <a:buSzPts val="1508"/>
              <a:buFont typeface="Noto Sans Symbols"/>
              <a:buNone/>
            </a:pPr>
            <a:r>
              <a:t/>
            </a:r>
            <a:endParaRPr sz="1895">
              <a:solidFill>
                <a:schemeClr val="dk1"/>
              </a:solidFill>
              <a:latin typeface="Times New Roman"/>
              <a:ea typeface="Times New Roman"/>
              <a:cs typeface="Times New Roman"/>
              <a:sym typeface="Times New Roman"/>
            </a:endParaRPr>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This module can charge and discharge Lithium batteries safely</a:t>
            </a:r>
            <a:endParaRPr sz="1895"/>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Suitable for 3.7V batteries</a:t>
            </a:r>
            <a:endParaRPr sz="1895"/>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Charging current 1A </a:t>
            </a:r>
            <a:endParaRPr sz="1895"/>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Input Voltage: 4.5V to 5.5V</a:t>
            </a:r>
            <a:endParaRPr sz="1895"/>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Full charge voltage 4.2V</a:t>
            </a:r>
            <a:endParaRPr sz="1895"/>
          </a:p>
          <a:p>
            <a:pPr indent="-356115" lvl="0" marL="457200" rtl="0" algn="l">
              <a:lnSpc>
                <a:spcPct val="90000"/>
              </a:lnSpc>
              <a:spcBef>
                <a:spcPts val="0"/>
              </a:spcBef>
              <a:spcAft>
                <a:spcPts val="0"/>
              </a:spcAft>
              <a:buClr>
                <a:schemeClr val="dk1"/>
              </a:buClr>
              <a:buSzPts val="2008"/>
              <a:buChar char="●"/>
            </a:pPr>
            <a:r>
              <a:rPr lang="en" sz="1895">
                <a:solidFill>
                  <a:schemeClr val="dk1"/>
                </a:solidFill>
                <a:latin typeface="Times New Roman"/>
                <a:ea typeface="Times New Roman"/>
                <a:cs typeface="Times New Roman"/>
                <a:sym typeface="Times New Roman"/>
              </a:rPr>
              <a:t>Protects battery from over charging and over discharging</a:t>
            </a:r>
            <a:endParaRPr sz="1895"/>
          </a:p>
          <a:p>
            <a:pPr indent="-171450" lvl="0" marL="285750" rtl="0" algn="l">
              <a:lnSpc>
                <a:spcPct val="105000"/>
              </a:lnSpc>
              <a:spcBef>
                <a:spcPts val="0"/>
              </a:spcBef>
              <a:spcAft>
                <a:spcPts val="0"/>
              </a:spcAft>
              <a:buClr>
                <a:schemeClr val="dk2"/>
              </a:buClr>
              <a:buSzPts val="1508"/>
              <a:buFont typeface="Noto Sans Symbols"/>
              <a:buNone/>
            </a:pPr>
            <a:r>
              <a:t/>
            </a:r>
            <a:endParaRPr sz="1895">
              <a:solidFill>
                <a:schemeClr val="dk1"/>
              </a:solidFill>
              <a:latin typeface="Times New Roman"/>
              <a:ea typeface="Times New Roman"/>
              <a:cs typeface="Times New Roman"/>
              <a:sym typeface="Times New Roman"/>
            </a:endParaRPr>
          </a:p>
        </p:txBody>
      </p:sp>
      <p:pic>
        <p:nvPicPr>
          <p:cNvPr id="174" name="Google Shape;174;p31"/>
          <p:cNvPicPr preferRelativeResize="0"/>
          <p:nvPr/>
        </p:nvPicPr>
        <p:blipFill rotWithShape="1">
          <a:blip r:embed="rId3">
            <a:alphaModFix/>
          </a:blip>
          <a:srcRect b="-10790" l="0" r="0" t="10790"/>
          <a:stretch/>
        </p:blipFill>
        <p:spPr>
          <a:xfrm>
            <a:off x="5433485" y="752108"/>
            <a:ext cx="3290021" cy="1850637"/>
          </a:xfrm>
          <a:prstGeom prst="rect">
            <a:avLst/>
          </a:prstGeom>
          <a:noFill/>
          <a:ln>
            <a:noFill/>
          </a:ln>
        </p:spPr>
      </p:pic>
      <p:sp>
        <p:nvSpPr>
          <p:cNvPr id="175" name="Google Shape;175;p31"/>
          <p:cNvSpPr txBox="1"/>
          <p:nvPr/>
        </p:nvSpPr>
        <p:spPr>
          <a:xfrm>
            <a:off x="410776" y="3302682"/>
            <a:ext cx="4992300" cy="109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2100" u="none" cap="none" strike="noStrike">
                <a:solidFill>
                  <a:schemeClr val="dk1"/>
                </a:solidFill>
                <a:latin typeface="Times New Roman"/>
                <a:ea typeface="Times New Roman"/>
                <a:cs typeface="Times New Roman"/>
                <a:sym typeface="Times New Roman"/>
              </a:rPr>
              <a:t>9 . 3.7v Battery: </a:t>
            </a:r>
            <a:r>
              <a:rPr b="0" i="0" lang="en" sz="1900" u="none" cap="none" strike="noStrike">
                <a:solidFill>
                  <a:schemeClr val="dk1"/>
                </a:solidFill>
                <a:latin typeface="Times New Roman"/>
                <a:ea typeface="Times New Roman"/>
                <a:cs typeface="Times New Roman"/>
                <a:sym typeface="Times New Roman"/>
              </a:rPr>
              <a:t>The battery is the power source for your smart glasses. It provides the necessary power to operate all the components</a:t>
            </a:r>
            <a:endParaRPr b="0" i="0" sz="1900" u="none" cap="none" strike="noStrike">
              <a:solidFill>
                <a:schemeClr val="dk1"/>
              </a:solidFill>
              <a:latin typeface="Times New Roman"/>
              <a:ea typeface="Times New Roman"/>
              <a:cs typeface="Times New Roman"/>
              <a:sym typeface="Times New Roman"/>
            </a:endParaRPr>
          </a:p>
        </p:txBody>
      </p:sp>
      <p:pic>
        <p:nvPicPr>
          <p:cNvPr id="176" name="Google Shape;176;p31"/>
          <p:cNvPicPr preferRelativeResize="0"/>
          <p:nvPr/>
        </p:nvPicPr>
        <p:blipFill rotWithShape="1">
          <a:blip r:embed="rId4">
            <a:alphaModFix/>
          </a:blip>
          <a:srcRect b="0" l="0" r="0" t="0"/>
          <a:stretch/>
        </p:blipFill>
        <p:spPr>
          <a:xfrm>
            <a:off x="6075288" y="3176450"/>
            <a:ext cx="2006400" cy="1885500"/>
          </a:xfrm>
          <a:prstGeom prst="rect">
            <a:avLst/>
          </a:prstGeom>
          <a:noFill/>
          <a:ln>
            <a:noFill/>
          </a:ln>
        </p:spPr>
      </p:pic>
      <p:sp>
        <p:nvSpPr>
          <p:cNvPr id="177" name="Google Shape;177;p31"/>
          <p:cNvSpPr txBox="1"/>
          <p:nvPr/>
        </p:nvSpPr>
        <p:spPr>
          <a:xfrm>
            <a:off x="410763" y="263647"/>
            <a:ext cx="4371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Times New Roman"/>
                <a:ea typeface="Times New Roman"/>
                <a:cs typeface="Times New Roman"/>
                <a:sym typeface="Times New Roman"/>
              </a:rPr>
              <a:t>8. TP4056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nvSpPr>
        <p:spPr>
          <a:xfrm>
            <a:off x="626391" y="237392"/>
            <a:ext cx="7484264" cy="684443"/>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Times New Roman"/>
                <a:ea typeface="Times New Roman"/>
                <a:cs typeface="Times New Roman"/>
                <a:sym typeface="Times New Roman"/>
              </a:rPr>
              <a:t>SCHEMATIC DIAGRAM</a:t>
            </a:r>
            <a:endParaRPr b="1" i="0" sz="2800" u="none" cap="none" strike="noStrike">
              <a:solidFill>
                <a:srgbClr val="000000"/>
              </a:solidFill>
              <a:latin typeface="Arial"/>
              <a:ea typeface="Arial"/>
              <a:cs typeface="Arial"/>
              <a:sym typeface="Arial"/>
            </a:endParaRPr>
          </a:p>
        </p:txBody>
      </p:sp>
      <p:pic>
        <p:nvPicPr>
          <p:cNvPr id="183" name="Google Shape;183;p32"/>
          <p:cNvPicPr preferRelativeResize="0"/>
          <p:nvPr/>
        </p:nvPicPr>
        <p:blipFill rotWithShape="1">
          <a:blip r:embed="rId3">
            <a:alphaModFix/>
          </a:blip>
          <a:srcRect b="0" l="0" r="0" t="0"/>
          <a:stretch/>
        </p:blipFill>
        <p:spPr>
          <a:xfrm>
            <a:off x="2882457" y="1070517"/>
            <a:ext cx="2972132" cy="31462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1032812" y="504499"/>
            <a:ext cx="1725256" cy="566019"/>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200">
                <a:latin typeface="Times New Roman"/>
                <a:ea typeface="Times New Roman"/>
                <a:cs typeface="Times New Roman"/>
                <a:sym typeface="Times New Roman"/>
              </a:rPr>
              <a:t>Flow Chart</a:t>
            </a:r>
            <a:r>
              <a:rPr b="1" lang="en" sz="2200"/>
              <a:t>:</a:t>
            </a:r>
            <a:endParaRPr b="1"/>
          </a:p>
        </p:txBody>
      </p:sp>
      <p:pic>
        <p:nvPicPr>
          <p:cNvPr id="189" name="Google Shape;189;p33"/>
          <p:cNvPicPr preferRelativeResize="0"/>
          <p:nvPr/>
        </p:nvPicPr>
        <p:blipFill rotWithShape="1">
          <a:blip r:embed="rId3">
            <a:alphaModFix/>
          </a:blip>
          <a:srcRect b="0" l="0" r="0" t="0"/>
          <a:stretch/>
        </p:blipFill>
        <p:spPr>
          <a:xfrm>
            <a:off x="2834723" y="1126134"/>
            <a:ext cx="2959493" cy="374323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311700" y="99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21"/>
              <a:buFont typeface="Arial"/>
              <a:buNone/>
            </a:pPr>
            <a:r>
              <a:rPr b="1" lang="en" sz="2400">
                <a:solidFill>
                  <a:schemeClr val="dk1"/>
                </a:solidFill>
                <a:latin typeface="Times New Roman"/>
                <a:ea typeface="Times New Roman"/>
                <a:cs typeface="Times New Roman"/>
                <a:sym typeface="Times New Roman"/>
              </a:rPr>
              <a:t>Working:</a:t>
            </a:r>
            <a:endParaRPr sz="3200">
              <a:solidFill>
                <a:schemeClr val="dk1"/>
              </a:solidFill>
              <a:latin typeface="Times New Roman"/>
              <a:ea typeface="Times New Roman"/>
              <a:cs typeface="Times New Roman"/>
              <a:sym typeface="Times New Roman"/>
            </a:endParaRPr>
          </a:p>
        </p:txBody>
      </p:sp>
      <p:sp>
        <p:nvSpPr>
          <p:cNvPr id="195" name="Google Shape;195;p34"/>
          <p:cNvSpPr txBox="1"/>
          <p:nvPr/>
        </p:nvSpPr>
        <p:spPr>
          <a:xfrm>
            <a:off x="507119" y="767695"/>
            <a:ext cx="8251800" cy="4463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 sz="1800" u="none" cap="none" strike="noStrike">
                <a:solidFill>
                  <a:schemeClr val="dk1"/>
                </a:solidFill>
                <a:latin typeface="Times New Roman"/>
                <a:ea typeface="Times New Roman"/>
                <a:cs typeface="Times New Roman"/>
                <a:sym typeface="Times New Roman"/>
              </a:rPr>
              <a:t>When the switch is turned on, the 555 IC starts generating a triggering signal.The triggering signal triggers the ultrasonic sensor and emits a high frequency ultrasonic wave.</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800"/>
              <a:buFont typeface="Arial"/>
              <a:buChar char="•"/>
            </a:pPr>
            <a:r>
              <a:rPr b="0" i="0" lang="en" sz="1800" u="none" cap="none" strike="noStrike">
                <a:solidFill>
                  <a:schemeClr val="dk1"/>
                </a:solidFill>
                <a:latin typeface="Times New Roman"/>
                <a:ea typeface="Times New Roman"/>
                <a:cs typeface="Times New Roman"/>
                <a:sym typeface="Times New Roman"/>
              </a:rPr>
              <a:t> When any object comes in front of the ultrasonic sensor, the ultrasonic wave from the sensor will reflect on the object and return to the receiver.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800"/>
              <a:buFont typeface="Arial"/>
              <a:buChar char="•"/>
            </a:pPr>
            <a:r>
              <a:rPr b="0" i="0" lang="en" sz="1800" u="none" cap="none" strike="noStrike">
                <a:solidFill>
                  <a:schemeClr val="dk1"/>
                </a:solidFill>
                <a:latin typeface="Times New Roman"/>
                <a:ea typeface="Times New Roman"/>
                <a:cs typeface="Times New Roman"/>
                <a:sym typeface="Times New Roman"/>
              </a:rPr>
              <a:t>The sensor calculates the distance to the obstacle based on the time taken for the ultrasonic waves to return to the receiver.</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800"/>
              <a:buFont typeface="Arial"/>
              <a:buChar char="•"/>
            </a:pPr>
            <a:r>
              <a:rPr b="0" i="0" lang="en" sz="1800" u="none" cap="none" strike="noStrike">
                <a:solidFill>
                  <a:schemeClr val="dk1"/>
                </a:solidFill>
                <a:latin typeface="Times New Roman"/>
                <a:ea typeface="Times New Roman"/>
                <a:cs typeface="Times New Roman"/>
                <a:sym typeface="Times New Roman"/>
              </a:rPr>
              <a:t>If an obstacle is detected within a predefined range, the echo pin of the ultrasonic sensor sends a signal to the buzzer.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800"/>
              <a:buFont typeface="Arial"/>
              <a:buChar char="•"/>
            </a:pPr>
            <a:r>
              <a:rPr b="0" i="0" lang="en" sz="1800" u="none" cap="none" strike="noStrike">
                <a:solidFill>
                  <a:schemeClr val="dk1"/>
                </a:solidFill>
                <a:latin typeface="Times New Roman"/>
                <a:ea typeface="Times New Roman"/>
                <a:cs typeface="Times New Roman"/>
                <a:sym typeface="Times New Roman"/>
              </a:rPr>
              <a:t>Then the buzzer starts buzzing sound to alert the blind person about the obstacle.Overall, this projects or circuit helps the blind individuals navigate their surroundings safely by alerting them to obstacles in their path.</a:t>
            </a:r>
            <a:endParaRPr b="0" i="0" sz="1600" u="none" cap="none" strike="noStrike">
              <a:solidFill>
                <a:srgbClr val="000000"/>
              </a:solidFill>
              <a:latin typeface="Arial"/>
              <a:ea typeface="Arial"/>
              <a:cs typeface="Arial"/>
              <a:sym typeface="Arial"/>
            </a:endParaRPr>
          </a:p>
          <a:p>
            <a:pPr indent="-184150" lvl="0" marL="285750" marR="0" rtl="0" algn="l">
              <a:lnSpc>
                <a:spcPct val="100000"/>
              </a:lnSpc>
              <a:spcBef>
                <a:spcPts val="1200"/>
              </a:spcBef>
              <a:spcAft>
                <a:spcPts val="0"/>
              </a:spcAft>
              <a:buClr>
                <a:srgbClr val="000000"/>
              </a:buClr>
              <a:buSzPts val="16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nvSpPr>
        <p:spPr>
          <a:xfrm>
            <a:off x="470172" y="0"/>
            <a:ext cx="5075100" cy="61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2400" u="none" cap="none" strike="noStrike">
                <a:solidFill>
                  <a:srgbClr val="000000"/>
                </a:solidFill>
                <a:latin typeface="Times New Roman"/>
                <a:ea typeface="Times New Roman"/>
                <a:cs typeface="Times New Roman"/>
                <a:sym typeface="Times New Roman"/>
              </a:rPr>
              <a:t>RESULTS AND DISCUSSION </a:t>
            </a:r>
            <a:r>
              <a:rPr b="1" i="0" lang="en" sz="2000" u="none" cap="none" strike="noStrike">
                <a:solidFill>
                  <a:schemeClr val="dk1"/>
                </a:solidFill>
                <a:latin typeface="Times New Roman"/>
                <a:ea typeface="Times New Roman"/>
                <a:cs typeface="Times New Roman"/>
                <a:sym typeface="Times New Roman"/>
              </a:rPr>
              <a:t>:</a:t>
            </a:r>
            <a:endParaRPr b="1" i="0" sz="2000" u="none" cap="none" strike="noStrike">
              <a:solidFill>
                <a:schemeClr val="dk1"/>
              </a:solidFill>
              <a:latin typeface="Times New Roman"/>
              <a:ea typeface="Times New Roman"/>
              <a:cs typeface="Times New Roman"/>
              <a:sym typeface="Times New Roman"/>
            </a:endParaRPr>
          </a:p>
        </p:txBody>
      </p:sp>
      <p:sp>
        <p:nvSpPr>
          <p:cNvPr id="201" name="Google Shape;201;p35"/>
          <p:cNvSpPr txBox="1"/>
          <p:nvPr/>
        </p:nvSpPr>
        <p:spPr>
          <a:xfrm>
            <a:off x="609624" y="762262"/>
            <a:ext cx="80958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Times New Roman"/>
                <a:ea typeface="Times New Roman"/>
                <a:cs typeface="Times New Roman"/>
                <a:sym typeface="Times New Roman"/>
              </a:rPr>
              <a:t>The system is created and designed for visually impaired people. This device helps the visually impaired people to handle several states and responds to the user in every environment. All the conditions can be easily met by the blind individual using ultrasonic sensor. This device will help the visually impaired people to know about the obstacles in </a:t>
            </a:r>
            <a:r>
              <a:rPr lang="en" sz="1800">
                <a:latin typeface="Times New Roman"/>
                <a:ea typeface="Times New Roman"/>
                <a:cs typeface="Times New Roman"/>
                <a:sym typeface="Times New Roman"/>
              </a:rPr>
              <a:t>forward </a:t>
            </a:r>
            <a:r>
              <a:rPr b="0" i="0" lang="en" sz="1800" u="none" cap="none" strike="noStrike">
                <a:solidFill>
                  <a:srgbClr val="000000"/>
                </a:solidFill>
                <a:latin typeface="Times New Roman"/>
                <a:ea typeface="Times New Roman"/>
                <a:cs typeface="Times New Roman"/>
                <a:sym typeface="Times New Roman"/>
              </a:rPr>
              <a:t>direction. </a:t>
            </a:r>
            <a:endParaRPr b="0" i="0" sz="1800" u="none" cap="none" strike="noStrike">
              <a:solidFill>
                <a:srgbClr val="000000"/>
              </a:solidFill>
              <a:latin typeface="Times New Roman"/>
              <a:ea typeface="Times New Roman"/>
              <a:cs typeface="Times New Roman"/>
              <a:sym typeface="Times New Roman"/>
            </a:endParaRPr>
          </a:p>
        </p:txBody>
      </p:sp>
      <p:pic>
        <p:nvPicPr>
          <p:cNvPr id="202" name="Google Shape;202;p35"/>
          <p:cNvPicPr preferRelativeResize="0"/>
          <p:nvPr/>
        </p:nvPicPr>
        <p:blipFill rotWithShape="1">
          <a:blip r:embed="rId3">
            <a:alphaModFix/>
          </a:blip>
          <a:srcRect b="17764" l="0" r="0" t="17766"/>
          <a:stretch/>
        </p:blipFill>
        <p:spPr>
          <a:xfrm>
            <a:off x="2174825" y="2479250"/>
            <a:ext cx="4591574" cy="2434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6"/>
          <p:cNvSpPr txBox="1"/>
          <p:nvPr>
            <p:ph type="title"/>
          </p:nvPr>
        </p:nvSpPr>
        <p:spPr>
          <a:xfrm>
            <a:off x="311700" y="2101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5225"/>
              <a:buNone/>
            </a:pPr>
            <a:r>
              <a:rPr b="1" lang="en" sz="2700">
                <a:latin typeface="Times New Roman"/>
                <a:ea typeface="Times New Roman"/>
                <a:cs typeface="Times New Roman"/>
                <a:sym typeface="Times New Roman"/>
              </a:rPr>
              <a:t>ADVANTAGES:</a:t>
            </a:r>
            <a:endParaRPr b="1">
              <a:latin typeface="Times New Roman"/>
              <a:ea typeface="Times New Roman"/>
              <a:cs typeface="Times New Roman"/>
              <a:sym typeface="Times New Roman"/>
            </a:endParaRPr>
          </a:p>
        </p:txBody>
      </p:sp>
      <p:sp>
        <p:nvSpPr>
          <p:cNvPr id="208" name="Google Shape;208;p36"/>
          <p:cNvSpPr txBox="1"/>
          <p:nvPr>
            <p:ph idx="1" type="body"/>
          </p:nvPr>
        </p:nvSpPr>
        <p:spPr>
          <a:xfrm>
            <a:off x="395400" y="835425"/>
            <a:ext cx="4176600" cy="1204200"/>
          </a:xfrm>
          <a:prstGeom prst="rect">
            <a:avLst/>
          </a:prstGeom>
          <a:noFill/>
          <a:ln>
            <a:noFill/>
          </a:ln>
        </p:spPr>
        <p:txBody>
          <a:bodyPr anchorCtr="0" anchor="t" bIns="91425" lIns="91425" spcFirstLastPara="1" rIns="91425" wrap="square" tIns="91425">
            <a:noAutofit/>
          </a:bodyPr>
          <a:lstStyle/>
          <a:p>
            <a:pPr indent="-361950" lvl="0" marL="457200" rtl="0" algn="l">
              <a:lnSpc>
                <a:spcPct val="105000"/>
              </a:lnSpc>
              <a:spcBef>
                <a:spcPts val="0"/>
              </a:spcBef>
              <a:spcAft>
                <a:spcPts val="0"/>
              </a:spcAft>
              <a:buSzPts val="2100"/>
              <a:buChar char="●"/>
            </a:pPr>
            <a:r>
              <a:rPr lang="en" sz="1779">
                <a:solidFill>
                  <a:schemeClr val="dk1"/>
                </a:solidFill>
                <a:latin typeface="Times New Roman"/>
                <a:ea typeface="Times New Roman"/>
                <a:cs typeface="Times New Roman"/>
                <a:sym typeface="Times New Roman"/>
              </a:rPr>
              <a:t>Guides blind people. </a:t>
            </a:r>
            <a:endParaRPr sz="1965"/>
          </a:p>
          <a:p>
            <a:pPr indent="-361950" lvl="0" marL="457200" rtl="0" algn="l">
              <a:lnSpc>
                <a:spcPct val="105000"/>
              </a:lnSpc>
              <a:spcBef>
                <a:spcPts val="0"/>
              </a:spcBef>
              <a:spcAft>
                <a:spcPts val="0"/>
              </a:spcAft>
              <a:buSzPts val="2100"/>
              <a:buChar char="●"/>
            </a:pPr>
            <a:r>
              <a:rPr lang="en" sz="1779">
                <a:solidFill>
                  <a:schemeClr val="dk1"/>
                </a:solidFill>
                <a:latin typeface="Times New Roman"/>
                <a:ea typeface="Times New Roman"/>
                <a:cs typeface="Times New Roman"/>
                <a:sym typeface="Times New Roman"/>
              </a:rPr>
              <a:t>Efficient low cost design. </a:t>
            </a:r>
            <a:endParaRPr sz="1965"/>
          </a:p>
          <a:p>
            <a:pPr indent="-361950" lvl="0" marL="457200" rtl="0" algn="l">
              <a:lnSpc>
                <a:spcPct val="105000"/>
              </a:lnSpc>
              <a:spcBef>
                <a:spcPts val="0"/>
              </a:spcBef>
              <a:spcAft>
                <a:spcPts val="0"/>
              </a:spcAft>
              <a:buSzPts val="2100"/>
              <a:buChar char="●"/>
            </a:pPr>
            <a:r>
              <a:rPr lang="en" sz="1779">
                <a:solidFill>
                  <a:schemeClr val="dk1"/>
                </a:solidFill>
                <a:latin typeface="Times New Roman"/>
                <a:ea typeface="Times New Roman"/>
                <a:cs typeface="Times New Roman"/>
                <a:sym typeface="Times New Roman"/>
              </a:rPr>
              <a:t>Low power consumption. </a:t>
            </a:r>
            <a:endParaRPr sz="1965"/>
          </a:p>
          <a:p>
            <a:pPr indent="-361950" lvl="0" marL="457200" rtl="0" algn="l">
              <a:lnSpc>
                <a:spcPct val="105000"/>
              </a:lnSpc>
              <a:spcBef>
                <a:spcPts val="0"/>
              </a:spcBef>
              <a:spcAft>
                <a:spcPts val="0"/>
              </a:spcAft>
              <a:buSzPts val="2100"/>
              <a:buChar char="●"/>
            </a:pPr>
            <a:r>
              <a:rPr lang="en" sz="1779">
                <a:solidFill>
                  <a:schemeClr val="dk1"/>
                </a:solidFill>
                <a:latin typeface="Times New Roman"/>
                <a:ea typeface="Times New Roman"/>
                <a:cs typeface="Times New Roman"/>
                <a:sym typeface="Times New Roman"/>
              </a:rPr>
              <a:t>Simple to use. </a:t>
            </a:r>
            <a:endParaRPr sz="1965"/>
          </a:p>
          <a:p>
            <a:pPr indent="0" lvl="0" marL="114300" rtl="0" algn="l">
              <a:lnSpc>
                <a:spcPct val="105000"/>
              </a:lnSpc>
              <a:spcBef>
                <a:spcPts val="0"/>
              </a:spcBef>
              <a:spcAft>
                <a:spcPts val="0"/>
              </a:spcAft>
              <a:buSzPts val="1800"/>
              <a:buNone/>
            </a:pPr>
            <a:r>
              <a:t/>
            </a:r>
            <a:endParaRPr sz="1779">
              <a:solidFill>
                <a:schemeClr val="dk1"/>
              </a:solidFill>
              <a:latin typeface="Times New Roman"/>
              <a:ea typeface="Times New Roman"/>
              <a:cs typeface="Times New Roman"/>
              <a:sym typeface="Times New Roman"/>
            </a:endParaRPr>
          </a:p>
        </p:txBody>
      </p:sp>
      <p:sp>
        <p:nvSpPr>
          <p:cNvPr id="209" name="Google Shape;209;p36"/>
          <p:cNvSpPr txBox="1"/>
          <p:nvPr/>
        </p:nvSpPr>
        <p:spPr>
          <a:xfrm>
            <a:off x="311700" y="2319636"/>
            <a:ext cx="8520600" cy="572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dk1"/>
              </a:buClr>
              <a:buSzPts val="2800"/>
              <a:buFont typeface="Arial"/>
              <a:buNone/>
            </a:pPr>
            <a:r>
              <a:rPr b="1" i="0" lang="en" sz="2400" u="none" cap="none" strike="noStrike">
                <a:solidFill>
                  <a:schemeClr val="dk1"/>
                </a:solidFill>
                <a:latin typeface="Times New Roman"/>
                <a:ea typeface="Times New Roman"/>
                <a:cs typeface="Times New Roman"/>
                <a:sym typeface="Times New Roman"/>
              </a:rPr>
              <a:t>APPLICATIONS :</a:t>
            </a:r>
            <a:endParaRPr b="0" i="0" sz="1400" u="none" cap="none" strike="noStrike">
              <a:solidFill>
                <a:srgbClr val="000000"/>
              </a:solidFill>
              <a:latin typeface="Arial"/>
              <a:ea typeface="Arial"/>
              <a:cs typeface="Arial"/>
              <a:sym typeface="Arial"/>
            </a:endParaRPr>
          </a:p>
        </p:txBody>
      </p:sp>
      <p:sp>
        <p:nvSpPr>
          <p:cNvPr id="210" name="Google Shape;210;p36"/>
          <p:cNvSpPr txBox="1"/>
          <p:nvPr/>
        </p:nvSpPr>
        <p:spPr>
          <a:xfrm>
            <a:off x="395400" y="2798386"/>
            <a:ext cx="7486800" cy="1813800"/>
          </a:xfrm>
          <a:prstGeom prst="rect">
            <a:avLst/>
          </a:prstGeom>
          <a:noFill/>
          <a:ln>
            <a:noFill/>
          </a:ln>
        </p:spPr>
        <p:txBody>
          <a:bodyPr anchorCtr="0" anchor="t" bIns="91425" lIns="91425" spcFirstLastPara="1" rIns="91425" wrap="square" tIns="91425">
            <a:noAutofit/>
          </a:bodyPr>
          <a:lstStyle/>
          <a:p>
            <a:pPr indent="-349250" lvl="0" marL="457200" marR="0" rtl="0" algn="l">
              <a:lnSpc>
                <a:spcPct val="105000"/>
              </a:lnSpc>
              <a:spcBef>
                <a:spcPts val="0"/>
              </a:spcBef>
              <a:spcAft>
                <a:spcPts val="0"/>
              </a:spcAft>
              <a:buClr>
                <a:schemeClr val="dk2"/>
              </a:buClr>
              <a:buSzPts val="1900"/>
              <a:buFont typeface="Arial"/>
              <a:buChar char="●"/>
            </a:pPr>
            <a:r>
              <a:rPr b="0" i="0" lang="en" sz="1700" u="none" cap="none" strike="noStrike">
                <a:solidFill>
                  <a:schemeClr val="dk1"/>
                </a:solidFill>
                <a:latin typeface="Times New Roman"/>
                <a:ea typeface="Times New Roman"/>
                <a:cs typeface="Times New Roman"/>
                <a:sym typeface="Times New Roman"/>
              </a:rPr>
              <a:t>It works as a navigation device for blind people. </a:t>
            </a:r>
            <a:endParaRPr b="0" i="0" sz="1500" u="none" cap="none" strike="noStrike">
              <a:solidFill>
                <a:srgbClr val="000000"/>
              </a:solidFill>
              <a:latin typeface="Arial"/>
              <a:ea typeface="Arial"/>
              <a:cs typeface="Arial"/>
              <a:sym typeface="Arial"/>
            </a:endParaRPr>
          </a:p>
          <a:p>
            <a:pPr indent="-349250" lvl="0" marL="457200" marR="0" rtl="0" algn="l">
              <a:lnSpc>
                <a:spcPct val="105000"/>
              </a:lnSpc>
              <a:spcBef>
                <a:spcPts val="0"/>
              </a:spcBef>
              <a:spcAft>
                <a:spcPts val="0"/>
              </a:spcAft>
              <a:buClr>
                <a:schemeClr val="dk2"/>
              </a:buClr>
              <a:buSzPts val="1900"/>
              <a:buFont typeface="Arial"/>
              <a:buChar char="●"/>
            </a:pPr>
            <a:r>
              <a:rPr b="0" i="0" lang="en" sz="1700" u="none" cap="none" strike="noStrike">
                <a:solidFill>
                  <a:schemeClr val="dk1"/>
                </a:solidFill>
                <a:latin typeface="Times New Roman"/>
                <a:ea typeface="Times New Roman"/>
                <a:cs typeface="Times New Roman"/>
                <a:sym typeface="Times New Roman"/>
              </a:rPr>
              <a:t>This system can be used to navigate by everyone not only visually impaired under certain circumstances , like foggy mornings with low visibility. Some winter mornings are foggy , where the visibility is very low , then this system can be used. </a:t>
            </a:r>
            <a:endParaRPr b="0" i="0" sz="1500" u="none" cap="none" strike="noStrike">
              <a:solidFill>
                <a:srgbClr val="000000"/>
              </a:solidFill>
              <a:latin typeface="Arial"/>
              <a:ea typeface="Arial"/>
              <a:cs typeface="Arial"/>
              <a:sym typeface="Arial"/>
            </a:endParaRPr>
          </a:p>
          <a:p>
            <a:pPr indent="-349250" lvl="0" marL="457200" marR="0" rtl="0" algn="l">
              <a:lnSpc>
                <a:spcPct val="105000"/>
              </a:lnSpc>
              <a:spcBef>
                <a:spcPts val="0"/>
              </a:spcBef>
              <a:spcAft>
                <a:spcPts val="0"/>
              </a:spcAft>
              <a:buClr>
                <a:schemeClr val="dk2"/>
              </a:buClr>
              <a:buSzPts val="1900"/>
              <a:buFont typeface="Arial"/>
              <a:buChar char="●"/>
            </a:pPr>
            <a:r>
              <a:rPr b="0" i="0" lang="en" sz="1700" u="none" cap="none" strike="noStrike">
                <a:solidFill>
                  <a:schemeClr val="dk1"/>
                </a:solidFill>
                <a:latin typeface="Times New Roman"/>
                <a:ea typeface="Times New Roman"/>
                <a:cs typeface="Times New Roman"/>
                <a:sym typeface="Times New Roman"/>
              </a:rPr>
              <a:t>Help blind people to easily walk to destination. </a:t>
            </a:r>
            <a:endParaRPr b="0" i="0" sz="1500" u="none" cap="none" strike="noStrike">
              <a:solidFill>
                <a:srgbClr val="000000"/>
              </a:solidFill>
              <a:latin typeface="Arial"/>
              <a:ea typeface="Arial"/>
              <a:cs typeface="Arial"/>
              <a:sym typeface="Arial"/>
            </a:endParaRPr>
          </a:p>
          <a:p>
            <a:pPr indent="-349250" lvl="0" marL="457200" marR="0" rtl="0" algn="l">
              <a:lnSpc>
                <a:spcPct val="105000"/>
              </a:lnSpc>
              <a:spcBef>
                <a:spcPts val="0"/>
              </a:spcBef>
              <a:spcAft>
                <a:spcPts val="0"/>
              </a:spcAft>
              <a:buClr>
                <a:schemeClr val="dk2"/>
              </a:buClr>
              <a:buSzPts val="1900"/>
              <a:buFont typeface="Arial"/>
              <a:buChar char="●"/>
            </a:pPr>
            <a:r>
              <a:rPr b="0" i="0" lang="en" sz="1700" u="none" cap="none" strike="noStrike">
                <a:solidFill>
                  <a:schemeClr val="dk1"/>
                </a:solidFill>
                <a:latin typeface="Times New Roman"/>
                <a:ea typeface="Times New Roman"/>
                <a:cs typeface="Times New Roman"/>
                <a:sym typeface="Times New Roman"/>
              </a:rPr>
              <a:t>Help blind people for obstacle detection.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00">
                <a:latin typeface="Times New Roman"/>
                <a:ea typeface="Times New Roman"/>
                <a:cs typeface="Times New Roman"/>
                <a:sym typeface="Times New Roman"/>
              </a:rPr>
              <a:t>LIMITATIONS:</a:t>
            </a:r>
            <a:endParaRPr>
              <a:latin typeface="Times New Roman"/>
              <a:ea typeface="Times New Roman"/>
              <a:cs typeface="Times New Roman"/>
              <a:sym typeface="Times New Roman"/>
            </a:endParaRPr>
          </a:p>
        </p:txBody>
      </p:sp>
      <p:sp>
        <p:nvSpPr>
          <p:cNvPr id="216" name="Google Shape;216;p37"/>
          <p:cNvSpPr txBox="1"/>
          <p:nvPr>
            <p:ph idx="1" type="body"/>
          </p:nvPr>
        </p:nvSpPr>
        <p:spPr>
          <a:xfrm>
            <a:off x="417375" y="1423000"/>
            <a:ext cx="7265100" cy="2480400"/>
          </a:xfrm>
          <a:prstGeom prst="rect">
            <a:avLst/>
          </a:prstGeom>
          <a:noFill/>
          <a:ln>
            <a:noFill/>
          </a:ln>
        </p:spPr>
        <p:txBody>
          <a:bodyPr anchorCtr="0" anchor="t" bIns="91425" lIns="91425" spcFirstLastPara="1" rIns="91425" wrap="square" tIns="91425">
            <a:noAutofit/>
          </a:bodyPr>
          <a:lstStyle/>
          <a:p>
            <a:pPr indent="-340677" lvl="0" marL="457200" rtl="0" algn="l">
              <a:lnSpc>
                <a:spcPct val="115000"/>
              </a:lnSpc>
              <a:spcBef>
                <a:spcPts val="0"/>
              </a:spcBef>
              <a:spcAft>
                <a:spcPts val="0"/>
              </a:spcAft>
              <a:buClr>
                <a:schemeClr val="dk1"/>
              </a:buClr>
              <a:buSzPts val="1765"/>
              <a:buFont typeface="Times New Roman"/>
              <a:buChar char="●"/>
            </a:pPr>
            <a:r>
              <a:rPr lang="en" sz="1765">
                <a:solidFill>
                  <a:schemeClr val="dk1"/>
                </a:solidFill>
                <a:latin typeface="Times New Roman"/>
                <a:ea typeface="Times New Roman"/>
                <a:cs typeface="Times New Roman"/>
                <a:sym typeface="Times New Roman"/>
              </a:rPr>
              <a:t>Battery Life: Without efficient power management strategies, smart glasses might have shorter battery life, limiting their usability. </a:t>
            </a:r>
            <a:endParaRPr sz="1765">
              <a:solidFill>
                <a:schemeClr val="dk1"/>
              </a:solidFill>
              <a:latin typeface="Times New Roman"/>
              <a:ea typeface="Times New Roman"/>
              <a:cs typeface="Times New Roman"/>
              <a:sym typeface="Times New Roman"/>
            </a:endParaRPr>
          </a:p>
          <a:p>
            <a:pPr indent="0" lvl="0" marL="1371600" rtl="0" algn="l">
              <a:lnSpc>
                <a:spcPct val="115000"/>
              </a:lnSpc>
              <a:spcBef>
                <a:spcPts val="0"/>
              </a:spcBef>
              <a:spcAft>
                <a:spcPts val="0"/>
              </a:spcAft>
              <a:buSzPts val="1018"/>
              <a:buNone/>
            </a:pPr>
            <a:r>
              <a:t/>
            </a:r>
            <a:endParaRPr sz="1765">
              <a:solidFill>
                <a:schemeClr val="dk1"/>
              </a:solidFill>
              <a:latin typeface="Times New Roman"/>
              <a:ea typeface="Times New Roman"/>
              <a:cs typeface="Times New Roman"/>
              <a:sym typeface="Times New Roman"/>
            </a:endParaRPr>
          </a:p>
          <a:p>
            <a:pPr indent="-334327" lvl="0" marL="457200" rtl="0" algn="l">
              <a:lnSpc>
                <a:spcPct val="115000"/>
              </a:lnSpc>
              <a:spcBef>
                <a:spcPts val="0"/>
              </a:spcBef>
              <a:spcAft>
                <a:spcPts val="0"/>
              </a:spcAft>
              <a:buClr>
                <a:schemeClr val="dk1"/>
              </a:buClr>
              <a:buSzPts val="1665"/>
              <a:buFont typeface="Times New Roman"/>
              <a:buChar char="●"/>
            </a:pPr>
            <a:r>
              <a:rPr lang="en" sz="1117">
                <a:solidFill>
                  <a:schemeClr val="dk1"/>
                </a:solidFill>
              </a:rPr>
              <a:t> </a:t>
            </a:r>
            <a:r>
              <a:rPr lang="en" sz="1765">
                <a:solidFill>
                  <a:schemeClr val="dk1"/>
                </a:solidFill>
                <a:latin typeface="Times New Roman"/>
                <a:ea typeface="Times New Roman"/>
                <a:cs typeface="Times New Roman"/>
                <a:sym typeface="Times New Roman"/>
              </a:rPr>
              <a:t>Sensor Range and Accuracy: Many smart glasses use cameras or ultrasonic sensors for obstacle detection, but these sensors may have limited range o</a:t>
            </a:r>
            <a:r>
              <a:rPr lang="en" sz="1765">
                <a:solidFill>
                  <a:schemeClr val="dk1"/>
                </a:solidFill>
                <a:latin typeface="Times New Roman"/>
                <a:ea typeface="Times New Roman"/>
                <a:cs typeface="Times New Roman"/>
                <a:sym typeface="Times New Roman"/>
              </a:rPr>
              <a:t>r </a:t>
            </a:r>
            <a:r>
              <a:rPr lang="en" sz="1765">
                <a:solidFill>
                  <a:schemeClr val="dk1"/>
                </a:solidFill>
                <a:latin typeface="Times New Roman"/>
                <a:ea typeface="Times New Roman"/>
                <a:cs typeface="Times New Roman"/>
                <a:sym typeface="Times New Roman"/>
              </a:rPr>
              <a:t>accuracy, making it challenging to detect obstacles that are very close or very far away.</a:t>
            </a:r>
            <a:endParaRPr sz="1765">
              <a:solidFill>
                <a:schemeClr val="dk1"/>
              </a:solidFill>
              <a:latin typeface="Times New Roman"/>
              <a:ea typeface="Times New Roman"/>
              <a:cs typeface="Times New Roman"/>
              <a:sym typeface="Times New Roman"/>
            </a:endParaRPr>
          </a:p>
          <a:p>
            <a:pPr indent="0" lvl="0" marL="1371600" rtl="0" algn="l">
              <a:lnSpc>
                <a:spcPct val="115000"/>
              </a:lnSpc>
              <a:spcBef>
                <a:spcPts val="0"/>
              </a:spcBef>
              <a:spcAft>
                <a:spcPts val="0"/>
              </a:spcAft>
              <a:buSzPts val="1018"/>
              <a:buNone/>
            </a:pPr>
            <a:r>
              <a:t/>
            </a:r>
            <a:endParaRPr sz="1765">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8"/>
          <p:cNvSpPr txBox="1"/>
          <p:nvPr/>
        </p:nvSpPr>
        <p:spPr>
          <a:xfrm>
            <a:off x="732933" y="1716823"/>
            <a:ext cx="7975500" cy="1709854"/>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1" i="0" lang="en" sz="1600" u="none" cap="none" strike="noStrike">
                <a:solidFill>
                  <a:schemeClr val="dk1"/>
                </a:solidFill>
                <a:latin typeface="Times New Roman"/>
                <a:ea typeface="Times New Roman"/>
                <a:cs typeface="Times New Roman"/>
                <a:sym typeface="Times New Roman"/>
              </a:rPr>
              <a:t>       </a:t>
            </a:r>
            <a:r>
              <a:rPr b="0" i="0" lang="en" sz="1800" u="none" cap="none" strike="noStrike">
                <a:solidFill>
                  <a:schemeClr val="dk1"/>
                </a:solidFill>
                <a:latin typeface="Times New Roman"/>
                <a:ea typeface="Times New Roman"/>
                <a:cs typeface="Times New Roman"/>
                <a:sym typeface="Times New Roman"/>
              </a:rPr>
              <a:t>In conclusion, smart glasses represent a transformative innovation in enhancing the daily lives of blind individuals by providing them with unprecedented capabilities and accessibility. These devices leverage advanced technologies such as artificial intelligence, augmented reality, and sensor integration to offer features like real-time object recognition, navigation assistance, and environmental feedback.</a:t>
            </a:r>
            <a:endParaRPr b="1" i="1" sz="1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800"/>
              <a:buFont typeface="Arial"/>
              <a:buNone/>
            </a:pPr>
            <a:r>
              <a:t/>
            </a:r>
            <a:endParaRPr b="1" i="0" sz="1600" u="none" cap="none" strike="noStrike">
              <a:solidFill>
                <a:schemeClr val="dk1"/>
              </a:solidFill>
              <a:latin typeface="Times New Roman"/>
              <a:ea typeface="Times New Roman"/>
              <a:cs typeface="Times New Roman"/>
              <a:sym typeface="Times New Roman"/>
            </a:endParaRPr>
          </a:p>
        </p:txBody>
      </p:sp>
      <p:sp>
        <p:nvSpPr>
          <p:cNvPr id="222" name="Google Shape;222;p38"/>
          <p:cNvSpPr txBox="1"/>
          <p:nvPr/>
        </p:nvSpPr>
        <p:spPr>
          <a:xfrm>
            <a:off x="572430" y="631902"/>
            <a:ext cx="522620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Times New Roman"/>
                <a:ea typeface="Times New Roman"/>
                <a:cs typeface="Times New Roman"/>
                <a:sym typeface="Times New Roman"/>
              </a:rPr>
              <a:t>CONCLUSION :</a:t>
            </a:r>
            <a:endParaRPr b="1" i="0" sz="1800" u="none" cap="none" strike="noStrike">
              <a:solidFill>
                <a:srgbClr val="351C75"/>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9"/>
          <p:cNvSpPr txBox="1"/>
          <p:nvPr/>
        </p:nvSpPr>
        <p:spPr>
          <a:xfrm>
            <a:off x="572429" y="468351"/>
            <a:ext cx="503291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Times New Roman"/>
                <a:ea typeface="Times New Roman"/>
                <a:cs typeface="Times New Roman"/>
                <a:sym typeface="Times New Roman"/>
              </a:rPr>
              <a:t>REFERENCES:</a:t>
            </a:r>
            <a:endParaRPr b="0" i="0" sz="1400" u="none" cap="none" strike="noStrike">
              <a:solidFill>
                <a:srgbClr val="000000"/>
              </a:solidFill>
              <a:latin typeface="Arial"/>
              <a:ea typeface="Arial"/>
              <a:cs typeface="Arial"/>
              <a:sym typeface="Arial"/>
            </a:endParaRPr>
          </a:p>
        </p:txBody>
      </p:sp>
      <p:sp>
        <p:nvSpPr>
          <p:cNvPr id="228" name="Google Shape;228;p39"/>
          <p:cNvSpPr txBox="1"/>
          <p:nvPr/>
        </p:nvSpPr>
        <p:spPr>
          <a:xfrm>
            <a:off x="832625" y="1314510"/>
            <a:ext cx="7151649" cy="230832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eriod"/>
            </a:pPr>
            <a:r>
              <a:rPr b="0" i="0" lang="en" sz="1600" u="none" cap="none" strike="noStrike">
                <a:solidFill>
                  <a:srgbClr val="000000"/>
                </a:solidFill>
                <a:latin typeface="Times New Roman"/>
                <a:ea typeface="Times New Roman"/>
                <a:cs typeface="Times New Roman"/>
                <a:sym typeface="Times New Roman"/>
              </a:rPr>
              <a:t>Dr. Sankit Kassa, Manisha Inchanalkar, Amisha Kamble, Mayuri Inchanalkar Department of Electronics Engineering, SNDT University</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 sz="1600" u="none" cap="none" strike="noStrike">
                <a:solidFill>
                  <a:srgbClr val="000000"/>
                </a:solidFill>
                <a:latin typeface="Times New Roman"/>
                <a:ea typeface="Times New Roman"/>
                <a:cs typeface="Times New Roman"/>
                <a:sym typeface="Times New Roman"/>
              </a:rPr>
              <a:t>Professor, Department Of Computer Engineering, Smt. Kashibai Navale College Of Engineering, Pune, Maharashtra, India. DOI :</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 sz="1600" u="none" cap="none" strike="noStrike">
                <a:solidFill>
                  <a:srgbClr val="000000"/>
                </a:solidFill>
                <a:latin typeface="Times New Roman"/>
                <a:ea typeface="Times New Roman"/>
                <a:cs typeface="Times New Roman"/>
                <a:sym typeface="Times New Roman"/>
              </a:rPr>
              <a:t> https://www.doi.org/10.56726/IRJMETS35135’</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 sz="1600" u="none" cap="none" strike="noStrike">
                <a:solidFill>
                  <a:srgbClr val="000000"/>
                </a:solidFill>
                <a:latin typeface="Times New Roman"/>
                <a:ea typeface="Times New Roman"/>
                <a:cs typeface="Times New Roman"/>
                <a:sym typeface="Times New Roman"/>
              </a:rPr>
              <a:t>https://youtu.be/AIcSqeTR3cY?si=-mGpzT3w6ywxZDu8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Times New Roman"/>
                <a:ea typeface="Times New Roman"/>
                <a:cs typeface="Times New Roman"/>
                <a:sym typeface="Times New Roman"/>
              </a:rPr>
              <a:t>COURSE</a:t>
            </a:r>
            <a:r>
              <a:rPr lang="en">
                <a:latin typeface="Times New Roman"/>
                <a:ea typeface="Times New Roman"/>
                <a:cs typeface="Times New Roman"/>
                <a:sym typeface="Times New Roman"/>
              </a:rPr>
              <a:t> </a:t>
            </a:r>
            <a:r>
              <a:rPr b="1" lang="en">
                <a:latin typeface="Times New Roman"/>
                <a:ea typeface="Times New Roman"/>
                <a:cs typeface="Times New Roman"/>
                <a:sym typeface="Times New Roman"/>
              </a:rPr>
              <a:t>OUTCOMES</a:t>
            </a:r>
            <a:r>
              <a:rPr lang="en">
                <a:latin typeface="Times New Roman"/>
                <a:ea typeface="Times New Roman"/>
                <a:cs typeface="Times New Roman"/>
                <a:sym typeface="Times New Roman"/>
              </a:rPr>
              <a:t>:</a:t>
            </a:r>
            <a:endParaRPr/>
          </a:p>
        </p:txBody>
      </p:sp>
      <p:sp>
        <p:nvSpPr>
          <p:cNvPr id="234" name="Google Shape;234;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lang="en">
                <a:solidFill>
                  <a:schemeClr val="dk1"/>
                </a:solidFill>
                <a:latin typeface="Times New Roman"/>
                <a:ea typeface="Times New Roman"/>
                <a:cs typeface="Times New Roman"/>
                <a:sym typeface="Times New Roman"/>
              </a:rPr>
              <a:t>On completion of this course, students are able to</a:t>
            </a:r>
            <a:endParaRPr/>
          </a:p>
          <a:p>
            <a:pPr indent="0" lvl="0" marL="114300" rtl="0" algn="l">
              <a:lnSpc>
                <a:spcPct val="115000"/>
              </a:lnSpc>
              <a:spcBef>
                <a:spcPts val="0"/>
              </a:spcBef>
              <a:spcAft>
                <a:spcPts val="0"/>
              </a:spcAft>
              <a:buSzPts val="1800"/>
              <a:buNone/>
            </a:pPr>
            <a:r>
              <a:t/>
            </a:r>
            <a:endParaRPr>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
                <a:solidFill>
                  <a:schemeClr val="dk1"/>
                </a:solidFill>
                <a:latin typeface="Times New Roman"/>
                <a:ea typeface="Times New Roman"/>
                <a:cs typeface="Times New Roman"/>
                <a:sym typeface="Times New Roman"/>
              </a:rPr>
              <a:t>1) Solve the identified problems.</a:t>
            </a:r>
            <a:endParaRPr/>
          </a:p>
          <a:p>
            <a:pPr indent="0" lvl="0" marL="114300" rtl="0" algn="l">
              <a:lnSpc>
                <a:spcPct val="115000"/>
              </a:lnSpc>
              <a:spcBef>
                <a:spcPts val="0"/>
              </a:spcBef>
              <a:spcAft>
                <a:spcPts val="0"/>
              </a:spcAft>
              <a:buSzPts val="1800"/>
              <a:buNone/>
            </a:pPr>
            <a:r>
              <a:rPr lang="en">
                <a:solidFill>
                  <a:schemeClr val="dk1"/>
                </a:solidFill>
                <a:latin typeface="Times New Roman"/>
                <a:ea typeface="Times New Roman"/>
                <a:cs typeface="Times New Roman"/>
                <a:sym typeface="Times New Roman"/>
              </a:rPr>
              <a:t>2) Analyze the available resources and their utilization</a:t>
            </a:r>
            <a:endParaRPr/>
          </a:p>
          <a:p>
            <a:pPr indent="0" lvl="0" marL="114300" rtl="0" algn="l">
              <a:lnSpc>
                <a:spcPct val="115000"/>
              </a:lnSpc>
              <a:spcBef>
                <a:spcPts val="0"/>
              </a:spcBef>
              <a:spcAft>
                <a:spcPts val="0"/>
              </a:spcAft>
              <a:buSzPts val="1800"/>
              <a:buNone/>
            </a:pPr>
            <a:r>
              <a:rPr lang="en">
                <a:solidFill>
                  <a:schemeClr val="dk1"/>
                </a:solidFill>
                <a:latin typeface="Times New Roman"/>
                <a:ea typeface="Times New Roman"/>
                <a:cs typeface="Times New Roman"/>
                <a:sym typeface="Times New Roman"/>
              </a:rPr>
              <a:t>3) Present the work carried out and prepare the report</a:t>
            </a:r>
            <a:endParaRPr/>
          </a:p>
          <a:p>
            <a:pPr indent="0" lvl="0" marL="114300" rtl="0" algn="l">
              <a:lnSpc>
                <a:spcPct val="115000"/>
              </a:lnSpc>
              <a:spcBef>
                <a:spcPts val="0"/>
              </a:spcBef>
              <a:spcAft>
                <a:spcPts val="0"/>
              </a:spcAft>
              <a:buSzPts val="1800"/>
              <a:buNone/>
            </a:pPr>
            <a:r>
              <a:rPr lang="en">
                <a:solidFill>
                  <a:schemeClr val="dk1"/>
                </a:solidFill>
                <a:latin typeface="Times New Roman"/>
                <a:ea typeface="Times New Roman"/>
                <a:cs typeface="Times New Roman"/>
                <a:sym typeface="Times New Roman"/>
              </a:rPr>
              <a:t>4) Work in a team to find the solutions for societal and technical problems.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41"/>
          <p:cNvPicPr preferRelativeResize="0"/>
          <p:nvPr/>
        </p:nvPicPr>
        <p:blipFill rotWithShape="1">
          <a:blip r:embed="rId3">
            <a:alphaModFix/>
          </a:blip>
          <a:srcRect b="13424" l="0" r="0" t="0"/>
          <a:stretch/>
        </p:blipFill>
        <p:spPr>
          <a:xfrm>
            <a:off x="47625" y="61225"/>
            <a:ext cx="9096374" cy="5143501"/>
          </a:xfrm>
          <a:prstGeom prst="rect">
            <a:avLst/>
          </a:prstGeom>
          <a:noFill/>
          <a:ln>
            <a:noFill/>
          </a:ln>
        </p:spPr>
      </p:pic>
      <p:sp>
        <p:nvSpPr>
          <p:cNvPr id="240" name="Google Shape;240;p41"/>
          <p:cNvSpPr txBox="1"/>
          <p:nvPr/>
        </p:nvSpPr>
        <p:spPr>
          <a:xfrm rot="-2185248">
            <a:off x="-815414" y="1275836"/>
            <a:ext cx="5993824" cy="544277"/>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                                  THANK YOU</a:t>
            </a:r>
            <a:endParaRPr b="1"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